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77" r:id="rId4"/>
    <p:sldId id="261" r:id="rId5"/>
    <p:sldId id="262" r:id="rId6"/>
    <p:sldId id="263" r:id="rId7"/>
    <p:sldId id="270" r:id="rId8"/>
    <p:sldId id="271" r:id="rId9"/>
    <p:sldId id="265" r:id="rId10"/>
    <p:sldId id="272" r:id="rId11"/>
    <p:sldId id="273" r:id="rId12"/>
    <p:sldId id="274" r:id="rId13"/>
    <p:sldId id="275" r:id="rId14"/>
    <p:sldId id="276" r:id="rId15"/>
    <p:sldId id="282" r:id="rId16"/>
    <p:sldId id="279" r:id="rId17"/>
    <p:sldId id="278" r:id="rId18"/>
    <p:sldId id="280" r:id="rId19"/>
    <p:sldId id="281" r:id="rId20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AB6D0"/>
    <a:srgbClr val="0E192C"/>
    <a:srgbClr val="355EA9"/>
    <a:srgbClr val="2F5395"/>
    <a:srgbClr val="254275"/>
    <a:srgbClr val="1D345D"/>
    <a:srgbClr val="12203A"/>
    <a:srgbClr val="0B1423"/>
    <a:srgbClr val="1D2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  <c:spPr>
        <a:noFill/>
        <a:ln w="6480">
          <a:noFill/>
        </a:ln>
      </c:spPr>
    </c:floor>
    <c:sideWall>
      <c:thickness val="0"/>
      <c:spPr>
        <a:noFill/>
        <a:ln w="6480">
          <a:noFill/>
        </a:ln>
      </c:spPr>
    </c:sideWall>
    <c:backWall>
      <c:thickness val="0"/>
      <c:spPr>
        <a:noFill/>
        <a:ln w="6480">
          <a:noFill/>
        </a:ln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mT5-base</c:v>
                </c:pt>
              </c:strCache>
            </c:strRef>
          </c:tx>
          <c:spPr>
            <a:gradFill>
              <a:gsLst>
                <a:gs pos="0">
                  <a:srgbClr val="71A6DA"/>
                </a:gs>
                <a:gs pos="50000">
                  <a:srgbClr val="549ADA"/>
                </a:gs>
                <a:gs pos="100000">
                  <a:srgbClr val="448AC9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ROUGE-L (Avg)</c:v>
                </c:pt>
                <c:pt idx="1">
                  <c:v>BERTScore (Avg)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0.505</c:v>
                </c:pt>
                <c:pt idx="1">
                  <c:v>0.88700000000000001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DB-4CC3-A1D5-489B0E039FB5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GPT-2 Urdu</c:v>
                </c:pt>
              </c:strCache>
            </c:strRef>
          </c:tx>
          <c:spPr>
            <a:gradFill>
              <a:gsLst>
                <a:gs pos="0">
                  <a:srgbClr val="F08C56"/>
                </a:gs>
                <a:gs pos="50000">
                  <a:srgbClr val="F57A27"/>
                </a:gs>
                <a:gs pos="100000">
                  <a:srgbClr val="E46B19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ROUGE-L (Avg)</c:v>
                </c:pt>
                <c:pt idx="1">
                  <c:v>BERTScore (Avg)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0.46200000000000002</c:v>
                </c:pt>
                <c:pt idx="1">
                  <c:v>0.873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DB-4CC3-A1D5-489B0E039F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072789"/>
        <c:axId val="88540105"/>
        <c:axId val="0"/>
      </c:bar3DChart>
      <c:catAx>
        <c:axId val="7072789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88540105"/>
        <c:crosses val="autoZero"/>
        <c:auto val="1"/>
        <c:lblAlgn val="ctr"/>
        <c:lblOffset val="100"/>
        <c:noMultiLvlLbl val="0"/>
      </c:catAx>
      <c:valAx>
        <c:axId val="88540105"/>
        <c:scaling>
          <c:orientation val="minMax"/>
        </c:scaling>
        <c:delete val="0"/>
        <c:axPos val="b"/>
        <c:majorGridlines>
          <c:spPr>
            <a:ln w="9360">
              <a:solidFill>
                <a:srgbClr val="808080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7072789"/>
        <c:crosses val="autoZero"/>
        <c:crossBetween val="between"/>
      </c:valAx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900" b="0" strike="noStrike" spc="-1">
              <a:solidFill>
                <a:srgbClr val="D9D9D9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gradFill>
      <a:gsLst>
        <a:gs pos="0">
          <a:srgbClr val="595959"/>
        </a:gs>
        <a:gs pos="100000">
          <a:srgbClr val="262626"/>
        </a:gs>
      </a:gsLst>
      <a:path path="circle">
        <a:fillToRect l="50000" t="50000" r="50000" b="50000"/>
      </a:path>
    </a:gradFill>
    <a:ln w="936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mT5-base</c:v>
                </c:pt>
              </c:strCache>
            </c:strRef>
          </c:tx>
          <c:spPr>
            <a:ln w="34920" cap="rnd">
              <a:solidFill>
                <a:srgbClr val="5B9BD5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Fluency</c:v>
                </c:pt>
                <c:pt idx="1">
                  <c:v>Coherence</c:v>
                </c:pt>
                <c:pt idx="2">
                  <c:v>Creativity</c:v>
                </c:pt>
                <c:pt idx="3">
                  <c:v>Cultural Fit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8.3000000000000007</c:v>
                </c:pt>
                <c:pt idx="1">
                  <c:v>8.1</c:v>
                </c:pt>
                <c:pt idx="2">
                  <c:v>7.6</c:v>
                </c:pt>
                <c:pt idx="3">
                  <c:v>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95-4E15-9A7B-30E43280B43F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GPT-2-Urdu</c:v>
                </c:pt>
              </c:strCache>
            </c:strRef>
          </c:tx>
          <c:spPr>
            <a:ln w="34920" cap="rnd">
              <a:solidFill>
                <a:srgbClr val="ED7D31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Fluency</c:v>
                </c:pt>
                <c:pt idx="1">
                  <c:v>Coherence</c:v>
                </c:pt>
                <c:pt idx="2">
                  <c:v>Creativity</c:v>
                </c:pt>
                <c:pt idx="3">
                  <c:v>Cultural Fit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7.9</c:v>
                </c:pt>
                <c:pt idx="1">
                  <c:v>7.6</c:v>
                </c:pt>
                <c:pt idx="2">
                  <c:v>8.1999999999999993</c:v>
                </c:pt>
                <c:pt idx="3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95-4E15-9A7B-30E43280B4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520080"/>
        <c:axId val="40250672"/>
      </c:radarChart>
      <c:catAx>
        <c:axId val="44520080"/>
        <c:scaling>
          <c:orientation val="maxMin"/>
        </c:scaling>
        <c:delete val="0"/>
        <c:axPos val="b"/>
        <c:majorGridlines>
          <c:spPr>
            <a:ln w="9360">
              <a:solidFill>
                <a:srgbClr val="F2F2F2">
                  <a:alpha val="10000"/>
                </a:srgbClr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40250672"/>
        <c:crosses val="autoZero"/>
        <c:auto val="1"/>
        <c:lblAlgn val="ctr"/>
        <c:lblOffset val="100"/>
        <c:noMultiLvlLbl val="0"/>
      </c:catAx>
      <c:valAx>
        <c:axId val="40250672"/>
        <c:scaling>
          <c:orientation val="minMax"/>
        </c:scaling>
        <c:delete val="0"/>
        <c:axPos val="l"/>
        <c:majorGridlines>
          <c:spPr>
            <a:ln w="9360">
              <a:solidFill>
                <a:srgbClr val="F2F2F2">
                  <a:alpha val="10000"/>
                </a:srgbClr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BFBFBF"/>
                </a:solidFill>
                <a:latin typeface="Calibri"/>
              </a:defRPr>
            </a:pPr>
            <a:endParaRPr lang="en-US"/>
          </a:p>
        </c:txPr>
        <c:crossAx val="44520080"/>
        <c:crosses val="autoZero"/>
        <c:crossBetween val="midCat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900" b="0" strike="noStrike" spc="-1">
              <a:solidFill>
                <a:srgbClr val="D9D9D9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gradFill>
      <a:gsLst>
        <a:gs pos="0">
          <a:srgbClr val="595959"/>
        </a:gs>
        <a:gs pos="100000">
          <a:srgbClr val="262626"/>
        </a:gs>
      </a:gsLst>
      <a:path path="circle">
        <a:fillToRect l="50000" t="50000" r="50000" b="50000"/>
      </a:path>
    </a:gradFill>
    <a:ln w="936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  <c:spPr>
        <a:noFill/>
        <a:ln w="6480">
          <a:noFill/>
        </a:ln>
      </c:spPr>
    </c:floor>
    <c:sideWall>
      <c:thickness val="0"/>
      <c:spPr>
        <a:noFill/>
        <a:ln w="6480">
          <a:noFill/>
        </a:ln>
      </c:spPr>
    </c:sideWall>
    <c:backWall>
      <c:thickness val="0"/>
      <c:spPr>
        <a:noFill/>
        <a:ln w="6480">
          <a:noFill/>
        </a:ln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mT5-base</c:v>
                </c:pt>
              </c:strCache>
            </c:strRef>
          </c:tx>
          <c:spPr>
            <a:gradFill>
              <a:gsLst>
                <a:gs pos="0">
                  <a:srgbClr val="71A6DA"/>
                </a:gs>
                <a:gs pos="50000">
                  <a:srgbClr val="549ADA"/>
                </a:gs>
                <a:gs pos="100000">
                  <a:srgbClr val="448AC9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ROUGE-L (Avg)</c:v>
                </c:pt>
                <c:pt idx="1">
                  <c:v>BERTScore (Avg)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0.505</c:v>
                </c:pt>
                <c:pt idx="1">
                  <c:v>0.88700000000000001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74-4A0A-AF16-FF2E25E0D21D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mT5-LoRA</c:v>
                </c:pt>
              </c:strCache>
            </c:strRef>
          </c:tx>
          <c:spPr>
            <a:gradFill>
              <a:gsLst>
                <a:gs pos="0">
                  <a:srgbClr val="F08C56"/>
                </a:gs>
                <a:gs pos="50000">
                  <a:srgbClr val="F57A27"/>
                </a:gs>
                <a:gs pos="100000">
                  <a:srgbClr val="E46B19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ROUGE-L (Avg)</c:v>
                </c:pt>
                <c:pt idx="1">
                  <c:v>BERTScore (Avg)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0.54100000000000004</c:v>
                </c:pt>
                <c:pt idx="1">
                  <c:v>0.89800000000000002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74-4A0A-AF16-FF2E25E0D21D}"/>
            </c:ext>
          </c:extLst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GPT-2 Urdu</c:v>
                </c:pt>
              </c:strCache>
            </c:strRef>
          </c:tx>
          <c:spPr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29292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ROUGE-L (Avg)</c:v>
                </c:pt>
                <c:pt idx="1">
                  <c:v>BERTScore (Avg)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2"/>
                <c:pt idx="0">
                  <c:v>0.46200000000000002</c:v>
                </c:pt>
                <c:pt idx="1">
                  <c:v>0.873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74-4A0A-AF16-FF2E25E0D21D}"/>
            </c:ext>
          </c:extLst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GPT-2 Urdu - LoRA</c:v>
                </c:pt>
              </c:strCache>
            </c:strRef>
          </c:tx>
          <c:spPr>
            <a:gradFill>
              <a:gsLst>
                <a:gs pos="0">
                  <a:srgbClr val="FFC54B"/>
                </a:gs>
                <a:gs pos="50000">
                  <a:srgbClr val="FFBF00"/>
                </a:gs>
                <a:gs pos="100000">
                  <a:srgbClr val="E2AA00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ROUGE-L (Avg)</c:v>
                </c:pt>
                <c:pt idx="1">
                  <c:v>BERTScore (Avg)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2"/>
                <c:pt idx="0">
                  <c:v>0.50700000000000001</c:v>
                </c:pt>
                <c:pt idx="1">
                  <c:v>0.88200000000000001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674-4A0A-AF16-FF2E25E0D2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6724632"/>
        <c:axId val="79789204"/>
        <c:axId val="0"/>
      </c:bar3DChart>
      <c:catAx>
        <c:axId val="3672463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79789204"/>
        <c:crosses val="autoZero"/>
        <c:auto val="1"/>
        <c:lblAlgn val="ctr"/>
        <c:lblOffset val="100"/>
        <c:noMultiLvlLbl val="0"/>
      </c:catAx>
      <c:valAx>
        <c:axId val="79789204"/>
        <c:scaling>
          <c:orientation val="minMax"/>
        </c:scaling>
        <c:delete val="0"/>
        <c:axPos val="b"/>
        <c:majorGridlines>
          <c:spPr>
            <a:ln w="9360">
              <a:solidFill>
                <a:srgbClr val="808080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36724632"/>
        <c:crosses val="autoZero"/>
        <c:crossBetween val="between"/>
      </c:valAx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900" b="0" strike="noStrike" spc="-1">
              <a:solidFill>
                <a:srgbClr val="D9D9D9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gradFill>
      <a:gsLst>
        <a:gs pos="0">
          <a:srgbClr val="595959"/>
        </a:gs>
        <a:gs pos="100000">
          <a:srgbClr val="262626"/>
        </a:gs>
      </a:gsLst>
      <a:path path="circle">
        <a:fillToRect l="50000" t="50000" r="50000" b="50000"/>
      </a:path>
    </a:gradFill>
    <a:ln w="936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  <c:spPr>
        <a:noFill/>
        <a:ln w="6480">
          <a:noFill/>
        </a:ln>
      </c:spPr>
    </c:floor>
    <c:sideWall>
      <c:thickness val="0"/>
      <c:spPr>
        <a:noFill/>
        <a:ln w="6480">
          <a:noFill/>
        </a:ln>
      </c:spPr>
    </c:sideWall>
    <c:backWall>
      <c:thickness val="0"/>
      <c:spPr>
        <a:noFill/>
        <a:ln w="6480">
          <a:noFill/>
        </a:ln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mT5-Baseline</c:v>
                </c:pt>
              </c:strCache>
            </c:strRef>
          </c:tx>
          <c:spPr>
            <a:gradFill>
              <a:gsLst>
                <a:gs pos="0">
                  <a:srgbClr val="71A6DA"/>
                </a:gs>
                <a:gs pos="50000">
                  <a:srgbClr val="549ADA"/>
                </a:gs>
                <a:gs pos="100000">
                  <a:srgbClr val="448AC9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Fluency</c:v>
                </c:pt>
                <c:pt idx="1">
                  <c:v>Coherence</c:v>
                </c:pt>
                <c:pt idx="2">
                  <c:v>Creativity</c:v>
                </c:pt>
                <c:pt idx="3">
                  <c:v>Cultural Fit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8.3000000000000007</c:v>
                </c:pt>
                <c:pt idx="1">
                  <c:v>8.1</c:v>
                </c:pt>
                <c:pt idx="2">
                  <c:v>7.6</c:v>
                </c:pt>
                <c:pt idx="3">
                  <c:v>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BC-44A3-A8E6-44F41B924D83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GPT-2-Baseline</c:v>
                </c:pt>
              </c:strCache>
            </c:strRef>
          </c:tx>
          <c:spPr>
            <a:gradFill>
              <a:gsLst>
                <a:gs pos="0">
                  <a:srgbClr val="F08C56"/>
                </a:gs>
                <a:gs pos="50000">
                  <a:srgbClr val="F57A27"/>
                </a:gs>
                <a:gs pos="100000">
                  <a:srgbClr val="E46B19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Fluency</c:v>
                </c:pt>
                <c:pt idx="1">
                  <c:v>Coherence</c:v>
                </c:pt>
                <c:pt idx="2">
                  <c:v>Creativity</c:v>
                </c:pt>
                <c:pt idx="3">
                  <c:v>Cultural Fit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7.9</c:v>
                </c:pt>
                <c:pt idx="1">
                  <c:v>7.6</c:v>
                </c:pt>
                <c:pt idx="2">
                  <c:v>8.1999999999999993</c:v>
                </c:pt>
                <c:pt idx="3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BC-44A3-A8E6-44F41B924D83}"/>
            </c:ext>
          </c:extLst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mT5-Prompt</c:v>
                </c:pt>
              </c:strCache>
            </c:strRef>
          </c:tx>
          <c:spPr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29292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Fluency</c:v>
                </c:pt>
                <c:pt idx="1">
                  <c:v>Coherence</c:v>
                </c:pt>
                <c:pt idx="2">
                  <c:v>Creativity</c:v>
                </c:pt>
                <c:pt idx="3">
                  <c:v>Cultural Fit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8.4</c:v>
                </c:pt>
                <c:pt idx="1">
                  <c:v>8.1999999999999993</c:v>
                </c:pt>
                <c:pt idx="2">
                  <c:v>7.9</c:v>
                </c:pt>
                <c:pt idx="3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BC-44A3-A8E6-44F41B924D83}"/>
            </c:ext>
          </c:extLst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GPT-2-Prompt</c:v>
                </c:pt>
              </c:strCache>
            </c:strRef>
          </c:tx>
          <c:spPr>
            <a:gradFill>
              <a:gsLst>
                <a:gs pos="0">
                  <a:srgbClr val="FFC54B"/>
                </a:gs>
                <a:gs pos="50000">
                  <a:srgbClr val="FFBF00"/>
                </a:gs>
                <a:gs pos="100000">
                  <a:srgbClr val="E2AA00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Fluency</c:v>
                </c:pt>
                <c:pt idx="1">
                  <c:v>Coherence</c:v>
                </c:pt>
                <c:pt idx="2">
                  <c:v>Creativity</c:v>
                </c:pt>
                <c:pt idx="3">
                  <c:v>Cultural Fit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4"/>
                <c:pt idx="0">
                  <c:v>8.3000000000000007</c:v>
                </c:pt>
                <c:pt idx="1">
                  <c:v>8</c:v>
                </c:pt>
                <c:pt idx="2">
                  <c:v>8.5</c:v>
                </c:pt>
                <c:pt idx="3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BC-44A3-A8E6-44F41B924D83}"/>
            </c:ext>
          </c:extLst>
        </c:ser>
        <c:ser>
          <c:idx val="4"/>
          <c:order val="4"/>
          <c:tx>
            <c:strRef>
              <c:f>label 4</c:f>
              <c:strCache>
                <c:ptCount val="1"/>
                <c:pt idx="0">
                  <c:v>mT5-LoRA</c:v>
                </c:pt>
              </c:strCache>
            </c:strRef>
          </c:tx>
          <c:spPr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Fluency</c:v>
                </c:pt>
                <c:pt idx="1">
                  <c:v>Coherence</c:v>
                </c:pt>
                <c:pt idx="2">
                  <c:v>Creativity</c:v>
                </c:pt>
                <c:pt idx="3">
                  <c:v>Cultural Fit</c:v>
                </c:pt>
              </c:strCache>
            </c:strRef>
          </c:cat>
          <c:val>
            <c:numRef>
              <c:f>4</c:f>
              <c:numCache>
                <c:formatCode>General</c:formatCode>
                <c:ptCount val="4"/>
                <c:pt idx="0">
                  <c:v>8.6999999999999993</c:v>
                </c:pt>
                <c:pt idx="1">
                  <c:v>8.6</c:v>
                </c:pt>
                <c:pt idx="2">
                  <c:v>8.1</c:v>
                </c:pt>
                <c:pt idx="3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BC-44A3-A8E6-44F41B924D83}"/>
            </c:ext>
          </c:extLst>
        </c:ser>
        <c:ser>
          <c:idx val="5"/>
          <c:order val="5"/>
          <c:tx>
            <c:strRef>
              <c:f>label 5</c:f>
              <c:strCache>
                <c:ptCount val="1"/>
                <c:pt idx="0">
                  <c:v>GPT-2-LoRA</c:v>
                </c:pt>
              </c:strCache>
            </c:strRef>
          </c:tx>
          <c:spPr>
            <a:gradFill>
              <a:gsLst>
                <a:gs pos="0">
                  <a:srgbClr val="80B761"/>
                </a:gs>
                <a:gs pos="50000">
                  <a:srgbClr val="6FB142"/>
                </a:gs>
                <a:gs pos="100000">
                  <a:srgbClr val="61A235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Fluency</c:v>
                </c:pt>
                <c:pt idx="1">
                  <c:v>Coherence</c:v>
                </c:pt>
                <c:pt idx="2">
                  <c:v>Creativity</c:v>
                </c:pt>
                <c:pt idx="3">
                  <c:v>Cultural Fit</c:v>
                </c:pt>
              </c:strCache>
            </c:strRef>
          </c:cat>
          <c:val>
            <c:numRef>
              <c:f>5</c:f>
              <c:numCache>
                <c:formatCode>General</c:formatCode>
                <c:ptCount val="4"/>
                <c:pt idx="0">
                  <c:v>8.5</c:v>
                </c:pt>
                <c:pt idx="1">
                  <c:v>8.3000000000000007</c:v>
                </c:pt>
                <c:pt idx="2">
                  <c:v>8.6999999999999993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8BC-44A3-A8E6-44F41B924D83}"/>
            </c:ext>
          </c:extLst>
        </c:ser>
        <c:ser>
          <c:idx val="6"/>
          <c:order val="6"/>
          <c:tx>
            <c:strRef>
              <c:f>label 6</c:f>
              <c:strCache>
                <c:ptCount val="1"/>
                <c:pt idx="0">
                  <c:v>mT5-Prompt+LoRA</c:v>
                </c:pt>
              </c:strCache>
            </c:strRef>
          </c:tx>
          <c:spPr>
            <a:gradFill>
              <a:gsLst>
                <a:gs pos="0">
                  <a:srgbClr val="50729E"/>
                </a:gs>
                <a:gs pos="50000">
                  <a:srgbClr val="205D96"/>
                </a:gs>
                <a:gs pos="100000">
                  <a:srgbClr val="17538A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Fluency</c:v>
                </c:pt>
                <c:pt idx="1">
                  <c:v>Coherence</c:v>
                </c:pt>
                <c:pt idx="2">
                  <c:v>Creativity</c:v>
                </c:pt>
                <c:pt idx="3">
                  <c:v>Cultural Fit</c:v>
                </c:pt>
              </c:strCache>
            </c:strRef>
          </c:cat>
          <c:val>
            <c:numRef>
              <c:f>6</c:f>
              <c:numCache>
                <c:formatCode>General</c:formatCode>
                <c:ptCount val="4"/>
                <c:pt idx="0">
                  <c:v>9</c:v>
                </c:pt>
                <c:pt idx="1">
                  <c:v>8.9</c:v>
                </c:pt>
                <c:pt idx="2">
                  <c:v>8.6</c:v>
                </c:pt>
                <c:pt idx="3">
                  <c:v>8.6999999999999993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BC-44A3-A8E6-44F41B924D83}"/>
            </c:ext>
          </c:extLst>
        </c:ser>
        <c:ser>
          <c:idx val="7"/>
          <c:order val="7"/>
          <c:tx>
            <c:strRef>
              <c:f>label 7</c:f>
              <c:strCache>
                <c:ptCount val="1"/>
                <c:pt idx="0">
                  <c:v>GPT-2-Prompt+LoRA</c:v>
                </c:pt>
              </c:strCache>
            </c:strRef>
          </c:tx>
          <c:spPr>
            <a:gradFill>
              <a:gsLst>
                <a:gs pos="0">
                  <a:srgbClr val="AA624B"/>
                </a:gs>
                <a:gs pos="50000">
                  <a:srgbClr val="A44707"/>
                </a:gs>
                <a:gs pos="100000">
                  <a:srgbClr val="983D00"/>
                </a:gs>
              </a:gsLst>
              <a:lin ang="5400000"/>
            </a:gra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Fluency</c:v>
                </c:pt>
                <c:pt idx="1">
                  <c:v>Coherence</c:v>
                </c:pt>
                <c:pt idx="2">
                  <c:v>Creativity</c:v>
                </c:pt>
                <c:pt idx="3">
                  <c:v>Cultural Fit</c:v>
                </c:pt>
              </c:strCache>
            </c:strRef>
          </c:cat>
          <c:val>
            <c:numRef>
              <c:f>7</c:f>
              <c:numCache>
                <c:formatCode>General</c:formatCode>
                <c:ptCount val="4"/>
                <c:pt idx="0">
                  <c:v>8.9</c:v>
                </c:pt>
                <c:pt idx="1">
                  <c:v>8.6</c:v>
                </c:pt>
                <c:pt idx="2">
                  <c:v>9</c:v>
                </c:pt>
                <c:pt idx="3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8BC-44A3-A8E6-44F41B924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4502869"/>
        <c:axId val="31515674"/>
        <c:axId val="0"/>
      </c:bar3DChart>
      <c:catAx>
        <c:axId val="34502869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31515674"/>
        <c:crosses val="autoZero"/>
        <c:auto val="1"/>
        <c:lblAlgn val="ctr"/>
        <c:lblOffset val="100"/>
        <c:noMultiLvlLbl val="0"/>
      </c:catAx>
      <c:valAx>
        <c:axId val="31515674"/>
        <c:scaling>
          <c:orientation val="minMax"/>
          <c:min val="7"/>
        </c:scaling>
        <c:delete val="0"/>
        <c:axPos val="b"/>
        <c:majorGridlines>
          <c:spPr>
            <a:ln w="9360">
              <a:solidFill>
                <a:srgbClr val="808080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34502869"/>
        <c:crosses val="autoZero"/>
        <c:crossBetween val="between"/>
      </c:valAx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900" b="0" strike="noStrike" spc="-1">
              <a:solidFill>
                <a:srgbClr val="D9D9D9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gradFill>
      <a:gsLst>
        <a:gs pos="0">
          <a:srgbClr val="595959"/>
        </a:gs>
        <a:gs pos="100000">
          <a:srgbClr val="262626"/>
        </a:gs>
      </a:gsLst>
      <a:path path="circle">
        <a:fillToRect l="50000" t="50000" r="50000" b="50000"/>
      </a:path>
    </a:gradFill>
    <a:ln w="936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  <c:spPr>
        <a:noFill/>
        <a:ln w="6480">
          <a:noFill/>
        </a:ln>
      </c:spPr>
    </c:floor>
    <c:sideWall>
      <c:thickness val="0"/>
      <c:spPr>
        <a:noFill/>
        <a:ln w="6480">
          <a:noFill/>
        </a:ln>
      </c:spPr>
    </c:sideWall>
    <c:backWall>
      <c:thickness val="0"/>
      <c:spPr>
        <a:noFill/>
        <a:ln w="6480">
          <a:noFill/>
        </a:ln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GPU Peak (MB)</c:v>
                </c:pt>
              </c:strCache>
            </c:strRef>
          </c:tx>
          <c:spPr>
            <a:gradFill>
              <a:gsLst>
                <a:gs pos="0">
                  <a:srgbClr val="71A6DA"/>
                </a:gs>
                <a:gs pos="50000">
                  <a:srgbClr val="549ADA"/>
                </a:gs>
                <a:gs pos="100000">
                  <a:srgbClr val="448AC9"/>
                </a:gs>
              </a:gsLst>
              <a:lin ang="5400000"/>
            </a:gradFill>
            <a:ln w="0"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E0D2-40C7-B8D5-03C9B3DB943B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E0D2-40C7-B8D5-03C9B3DB943B}"/>
              </c:ext>
            </c:extLst>
          </c:dPt>
          <c:dPt>
            <c:idx val="2"/>
            <c:invertIfNegative val="0"/>
            <c:bubble3D val="0"/>
            <c:spPr>
              <a:solidFill>
                <a:srgbClr val="ADB9C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E0D2-40C7-B8D5-03C9B3DB943B}"/>
              </c:ext>
            </c:extLst>
          </c:dPt>
          <c:dPt>
            <c:idx val="3"/>
            <c:invertIfNegative val="0"/>
            <c:bubble3D val="0"/>
            <c:spPr>
              <a:solidFill>
                <a:srgbClr val="ADB9C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E0D2-40C7-B8D5-03C9B3DB943B}"/>
              </c:ext>
            </c:extLst>
          </c:dPt>
          <c:dPt>
            <c:idx val="4"/>
            <c:invertIfNegative val="0"/>
            <c:bubble3D val="0"/>
            <c:spPr>
              <a:solidFill>
                <a:srgbClr val="ED7D3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9-E0D2-40C7-B8D5-03C9B3DB943B}"/>
              </c:ext>
            </c:extLst>
          </c:dPt>
          <c:dPt>
            <c:idx val="5"/>
            <c:invertIfNegative val="0"/>
            <c:bubble3D val="0"/>
            <c:spPr>
              <a:solidFill>
                <a:srgbClr val="ED7D3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B-E0D2-40C7-B8D5-03C9B3DB943B}"/>
              </c:ext>
            </c:extLst>
          </c:dPt>
          <c:dLbls>
            <c:dLbl>
              <c:idx val="0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D2-40C7-B8D5-03C9B3DB943B}"/>
                </c:ext>
              </c:extLst>
            </c:dLbl>
            <c:dLbl>
              <c:idx val="1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D2-40C7-B8D5-03C9B3DB943B}"/>
                </c:ext>
              </c:extLst>
            </c:dLbl>
            <c:dLbl>
              <c:idx val="2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0D2-40C7-B8D5-03C9B3DB943B}"/>
                </c:ext>
              </c:extLst>
            </c:dLbl>
            <c:dLbl>
              <c:idx val="3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0D2-40C7-B8D5-03C9B3DB943B}"/>
                </c:ext>
              </c:extLst>
            </c:dLbl>
            <c:dLbl>
              <c:idx val="4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0D2-40C7-B8D5-03C9B3DB943B}"/>
                </c:ext>
              </c:extLst>
            </c:dLbl>
            <c:dLbl>
              <c:idx val="5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0D2-40C7-B8D5-03C9B3DB943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8"/>
                <c:pt idx="0">
                  <c:v>mT5-Baseline</c:v>
                </c:pt>
                <c:pt idx="1">
                  <c:v>GPT-2-Baseline</c:v>
                </c:pt>
                <c:pt idx="2">
                  <c:v>mT5-Prompt</c:v>
                </c:pt>
                <c:pt idx="3">
                  <c:v>GPT-2-Prompt</c:v>
                </c:pt>
                <c:pt idx="4">
                  <c:v>mT5-LoRA</c:v>
                </c:pt>
                <c:pt idx="5">
                  <c:v>GPT-2-LoRA</c:v>
                </c:pt>
                <c:pt idx="6">
                  <c:v>mT5-Prompt+LoRA</c:v>
                </c:pt>
                <c:pt idx="7">
                  <c:v>GPT-2-Prompt+LoRA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2540</c:v>
                </c:pt>
                <c:pt idx="1">
                  <c:v>1115</c:v>
                </c:pt>
                <c:pt idx="2">
                  <c:v>2610</c:v>
                </c:pt>
                <c:pt idx="3">
                  <c:v>1160</c:v>
                </c:pt>
                <c:pt idx="4">
                  <c:v>2665</c:v>
                </c:pt>
                <c:pt idx="5">
                  <c:v>1205</c:v>
                </c:pt>
                <c:pt idx="6">
                  <c:v>2700</c:v>
                </c:pt>
                <c:pt idx="7">
                  <c:v>1255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0D2-40C7-B8D5-03C9B3DB9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915459"/>
        <c:axId val="31392154"/>
        <c:axId val="0"/>
      </c:bar3DChart>
      <c:catAx>
        <c:axId val="4915459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31392154"/>
        <c:crosses val="autoZero"/>
        <c:auto val="1"/>
        <c:lblAlgn val="ctr"/>
        <c:lblOffset val="100"/>
        <c:noMultiLvlLbl val="0"/>
      </c:catAx>
      <c:valAx>
        <c:axId val="31392154"/>
        <c:scaling>
          <c:orientation val="minMax"/>
        </c:scaling>
        <c:delete val="0"/>
        <c:axPos val="b"/>
        <c:majorGridlines>
          <c:spPr>
            <a:ln w="9360">
              <a:solidFill>
                <a:srgbClr val="808080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4915459"/>
        <c:crosses val="autoZero"/>
        <c:crossBetween val="between"/>
      </c:valAx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900" b="0" strike="noStrike" spc="-1">
              <a:solidFill>
                <a:srgbClr val="D9D9D9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gradFill>
      <a:gsLst>
        <a:gs pos="0">
          <a:srgbClr val="595959"/>
        </a:gs>
        <a:gs pos="100000">
          <a:srgbClr val="262626"/>
        </a:gs>
      </a:gsLst>
      <a:path path="circle">
        <a:fillToRect l="50000" t="50000" r="50000" b="50000"/>
      </a:path>
    </a:gradFill>
    <a:ln w="936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  <c:spPr>
        <a:noFill/>
        <a:ln w="6480">
          <a:noFill/>
        </a:ln>
      </c:spPr>
    </c:floor>
    <c:sideWall>
      <c:thickness val="0"/>
      <c:spPr>
        <a:noFill/>
        <a:ln w="6480">
          <a:noFill/>
        </a:ln>
      </c:spPr>
    </c:sideWall>
    <c:backWall>
      <c:thickness val="0"/>
      <c:spPr>
        <a:noFill/>
        <a:ln w="6480">
          <a:noFill/>
        </a:ln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Inference Time (s)</c:v>
                </c:pt>
              </c:strCache>
            </c:strRef>
          </c:tx>
          <c:spPr>
            <a:solidFill>
              <a:srgbClr val="E7E6E6"/>
            </a:solidFill>
            <a:ln w="0"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3568-4C50-B439-7F6844066C85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3568-4C50-B439-7F6844066C85}"/>
              </c:ext>
            </c:extLst>
          </c:dPt>
          <c:dPt>
            <c:idx val="2"/>
            <c:invertIfNegative val="0"/>
            <c:bubble3D val="0"/>
            <c:spPr>
              <a:solidFill>
                <a:srgbClr val="BDD7EE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3568-4C50-B439-7F6844066C85}"/>
              </c:ext>
            </c:extLst>
          </c:dPt>
          <c:dPt>
            <c:idx val="3"/>
            <c:invertIfNegative val="0"/>
            <c:bubble3D val="0"/>
            <c:spPr>
              <a:solidFill>
                <a:srgbClr val="BDD7EE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3568-4C50-B439-7F6844066C85}"/>
              </c:ext>
            </c:extLst>
          </c:dPt>
          <c:dPt>
            <c:idx val="4"/>
            <c:invertIfNegative val="0"/>
            <c:bubble3D val="0"/>
            <c:spPr>
              <a:solidFill>
                <a:srgbClr val="ED7D3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9-3568-4C50-B439-7F6844066C85}"/>
              </c:ext>
            </c:extLst>
          </c:dPt>
          <c:dPt>
            <c:idx val="5"/>
            <c:invertIfNegative val="0"/>
            <c:bubble3D val="0"/>
            <c:spPr>
              <a:solidFill>
                <a:srgbClr val="ED7D3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B-3568-4C50-B439-7F6844066C85}"/>
              </c:ext>
            </c:extLst>
          </c:dPt>
          <c:dPt>
            <c:idx val="6"/>
            <c:invertIfNegative val="0"/>
            <c:bubble3D val="0"/>
            <c:spPr>
              <a:solidFill>
                <a:srgbClr val="5B9BD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D-3568-4C50-B439-7F6844066C85}"/>
              </c:ext>
            </c:extLst>
          </c:dPt>
          <c:dPt>
            <c:idx val="7"/>
            <c:invertIfNegative val="0"/>
            <c:bubble3D val="0"/>
            <c:spPr>
              <a:solidFill>
                <a:srgbClr val="5B9BD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F-3568-4C50-B439-7F6844066C85}"/>
              </c:ext>
            </c:extLst>
          </c:dPt>
          <c:dLbls>
            <c:dLbl>
              <c:idx val="0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568-4C50-B439-7F6844066C85}"/>
                </c:ext>
              </c:extLst>
            </c:dLbl>
            <c:dLbl>
              <c:idx val="1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68-4C50-B439-7F6844066C85}"/>
                </c:ext>
              </c:extLst>
            </c:dLbl>
            <c:dLbl>
              <c:idx val="2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568-4C50-B439-7F6844066C85}"/>
                </c:ext>
              </c:extLst>
            </c:dLbl>
            <c:dLbl>
              <c:idx val="3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568-4C50-B439-7F6844066C85}"/>
                </c:ext>
              </c:extLst>
            </c:dLbl>
            <c:dLbl>
              <c:idx val="4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568-4C50-B439-7F6844066C85}"/>
                </c:ext>
              </c:extLst>
            </c:dLbl>
            <c:dLbl>
              <c:idx val="5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568-4C50-B439-7F6844066C85}"/>
                </c:ext>
              </c:extLst>
            </c:dLbl>
            <c:dLbl>
              <c:idx val="6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568-4C50-B439-7F6844066C85}"/>
                </c:ext>
              </c:extLst>
            </c:dLbl>
            <c:dLbl>
              <c:idx val="7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568-4C50-B439-7F6844066C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8"/>
                <c:pt idx="0">
                  <c:v>mT5-Baseline</c:v>
                </c:pt>
                <c:pt idx="1">
                  <c:v>GPT-2-Baseline</c:v>
                </c:pt>
                <c:pt idx="2">
                  <c:v>mT5-Prompt</c:v>
                </c:pt>
                <c:pt idx="3">
                  <c:v>GPT-2-Prompt</c:v>
                </c:pt>
                <c:pt idx="4">
                  <c:v>mT5-LoRA</c:v>
                </c:pt>
                <c:pt idx="5">
                  <c:v>GPT-2-LoRA</c:v>
                </c:pt>
                <c:pt idx="6">
                  <c:v>mT5-Prompt+LoRA</c:v>
                </c:pt>
                <c:pt idx="7">
                  <c:v>GPT-2-Prompt+LoRA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2.1</c:v>
                </c:pt>
                <c:pt idx="1">
                  <c:v>1.4</c:v>
                </c:pt>
                <c:pt idx="2">
                  <c:v>2.2000000000000002</c:v>
                </c:pt>
                <c:pt idx="3">
                  <c:v>1.5</c:v>
                </c:pt>
                <c:pt idx="4">
                  <c:v>2.2999999999999998</c:v>
                </c:pt>
                <c:pt idx="5">
                  <c:v>1.6</c:v>
                </c:pt>
                <c:pt idx="6">
                  <c:v>2.5</c:v>
                </c:pt>
                <c:pt idx="7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568-4C50-B439-7F6844066C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1758878"/>
        <c:axId val="86259997"/>
        <c:axId val="0"/>
      </c:bar3DChart>
      <c:catAx>
        <c:axId val="5175887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86259997"/>
        <c:crosses val="autoZero"/>
        <c:auto val="1"/>
        <c:lblAlgn val="ctr"/>
        <c:lblOffset val="100"/>
        <c:noMultiLvlLbl val="0"/>
      </c:catAx>
      <c:valAx>
        <c:axId val="86259997"/>
        <c:scaling>
          <c:orientation val="minMax"/>
        </c:scaling>
        <c:delete val="0"/>
        <c:axPos val="b"/>
        <c:majorGridlines>
          <c:spPr>
            <a:ln w="9360">
              <a:solidFill>
                <a:srgbClr val="808080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51758878"/>
        <c:crosses val="autoZero"/>
        <c:crossBetween val="between"/>
      </c:valAx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900" b="0" strike="noStrike" spc="-1">
              <a:solidFill>
                <a:srgbClr val="D9D9D9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gradFill>
      <a:gsLst>
        <a:gs pos="0">
          <a:srgbClr val="595959"/>
        </a:gs>
        <a:gs pos="100000">
          <a:srgbClr val="262626"/>
        </a:gs>
      </a:gsLst>
      <a:path path="circle">
        <a:fillToRect l="50000" t="50000" r="50000" b="50000"/>
      </a:path>
    </a:gradFill>
    <a:ln w="936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  <c:spPr>
        <a:noFill/>
        <a:ln w="6480">
          <a:noFill/>
        </a:ln>
      </c:spPr>
    </c:floor>
    <c:sideWall>
      <c:thickness val="0"/>
      <c:spPr>
        <a:noFill/>
        <a:ln w="6480">
          <a:noFill/>
        </a:ln>
      </c:spPr>
    </c:sideWall>
    <c:backWall>
      <c:thickness val="0"/>
      <c:spPr>
        <a:noFill/>
        <a:ln w="6480">
          <a:noFill/>
        </a:ln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Energy Estimate (W×s)</c:v>
                </c:pt>
              </c:strCache>
            </c:strRef>
          </c:tx>
          <c:spPr>
            <a:solidFill>
              <a:srgbClr val="BF9000"/>
            </a:solidFill>
            <a:ln w="0"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 w="0">
                <a:solidFill>
                  <a:srgbClr val="00B05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A8B-4018-BB5A-F798BC6F6250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DA8B-4018-BB5A-F798BC6F6250}"/>
              </c:ext>
            </c:extLst>
          </c:dPt>
          <c:dPt>
            <c:idx val="2"/>
            <c:invertIfNegative val="0"/>
            <c:bubble3D val="0"/>
            <c:spPr>
              <a:solidFill>
                <a:srgbClr val="BDD7EE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DA8B-4018-BB5A-F798BC6F6250}"/>
              </c:ext>
            </c:extLst>
          </c:dPt>
          <c:dPt>
            <c:idx val="3"/>
            <c:invertIfNegative val="0"/>
            <c:bubble3D val="0"/>
            <c:spPr>
              <a:solidFill>
                <a:srgbClr val="BDD7EE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DA8B-4018-BB5A-F798BC6F6250}"/>
              </c:ext>
            </c:extLst>
          </c:dPt>
          <c:dPt>
            <c:idx val="4"/>
            <c:invertIfNegative val="0"/>
            <c:bubble3D val="0"/>
            <c:spPr>
              <a:solidFill>
                <a:srgbClr val="ED7D3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9-DA8B-4018-BB5A-F798BC6F6250}"/>
              </c:ext>
            </c:extLst>
          </c:dPt>
          <c:dPt>
            <c:idx val="5"/>
            <c:invertIfNegative val="0"/>
            <c:bubble3D val="0"/>
            <c:spPr>
              <a:solidFill>
                <a:srgbClr val="ED7D3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B-DA8B-4018-BB5A-F798BC6F6250}"/>
              </c:ext>
            </c:extLst>
          </c:dPt>
          <c:dPt>
            <c:idx val="6"/>
            <c:invertIfNegative val="0"/>
            <c:bubble3D val="0"/>
            <c:spPr>
              <a:solidFill>
                <a:srgbClr val="5B9BD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D-DA8B-4018-BB5A-F798BC6F6250}"/>
              </c:ext>
            </c:extLst>
          </c:dPt>
          <c:dPt>
            <c:idx val="7"/>
            <c:invertIfNegative val="0"/>
            <c:bubble3D val="0"/>
            <c:spPr>
              <a:solidFill>
                <a:srgbClr val="5B9BD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F-DA8B-4018-BB5A-F798BC6F6250}"/>
              </c:ext>
            </c:extLst>
          </c:dPt>
          <c:dLbls>
            <c:dLbl>
              <c:idx val="0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8B-4018-BB5A-F798BC6F6250}"/>
                </c:ext>
              </c:extLst>
            </c:dLbl>
            <c:dLbl>
              <c:idx val="1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8B-4018-BB5A-F798BC6F6250}"/>
                </c:ext>
              </c:extLst>
            </c:dLbl>
            <c:dLbl>
              <c:idx val="2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A8B-4018-BB5A-F798BC6F6250}"/>
                </c:ext>
              </c:extLst>
            </c:dLbl>
            <c:dLbl>
              <c:idx val="3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A8B-4018-BB5A-F798BC6F6250}"/>
                </c:ext>
              </c:extLst>
            </c:dLbl>
            <c:dLbl>
              <c:idx val="4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A8B-4018-BB5A-F798BC6F6250}"/>
                </c:ext>
              </c:extLst>
            </c:dLbl>
            <c:dLbl>
              <c:idx val="5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A8B-4018-BB5A-F798BC6F6250}"/>
                </c:ext>
              </c:extLst>
            </c:dLbl>
            <c:dLbl>
              <c:idx val="6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A8B-4018-BB5A-F798BC6F6250}"/>
                </c:ext>
              </c:extLst>
            </c:dLbl>
            <c:dLbl>
              <c:idx val="7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A8B-4018-BB5A-F798BC6F62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8"/>
                <c:pt idx="0">
                  <c:v>mT5-Baseline</c:v>
                </c:pt>
                <c:pt idx="1">
                  <c:v>GPT-2-Baseline</c:v>
                </c:pt>
                <c:pt idx="2">
                  <c:v>mT5-Prompt</c:v>
                </c:pt>
                <c:pt idx="3">
                  <c:v>GPT-2-Prompt</c:v>
                </c:pt>
                <c:pt idx="4">
                  <c:v>mT5-LoRA</c:v>
                </c:pt>
                <c:pt idx="5">
                  <c:v>GPT-2-LoRA</c:v>
                </c:pt>
                <c:pt idx="6">
                  <c:v>mT5-Prompt+LoRA</c:v>
                </c:pt>
                <c:pt idx="7">
                  <c:v>GPT-2-Prompt+LoRA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168.8</c:v>
                </c:pt>
                <c:pt idx="1">
                  <c:v>99.4</c:v>
                </c:pt>
                <c:pt idx="2">
                  <c:v>180.2</c:v>
                </c:pt>
                <c:pt idx="3">
                  <c:v>105</c:v>
                </c:pt>
                <c:pt idx="4">
                  <c:v>188.4</c:v>
                </c:pt>
                <c:pt idx="5">
                  <c:v>112.3</c:v>
                </c:pt>
                <c:pt idx="6">
                  <c:v>197.6</c:v>
                </c:pt>
                <c:pt idx="7">
                  <c:v>119.8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A8B-4018-BB5A-F798BC6F62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1929652"/>
        <c:axId val="29726007"/>
        <c:axId val="0"/>
      </c:bar3DChart>
      <c:catAx>
        <c:axId val="719296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29726007"/>
        <c:crosses val="autoZero"/>
        <c:auto val="1"/>
        <c:lblAlgn val="ctr"/>
        <c:lblOffset val="100"/>
        <c:noMultiLvlLbl val="0"/>
      </c:catAx>
      <c:valAx>
        <c:axId val="29726007"/>
        <c:scaling>
          <c:orientation val="minMax"/>
        </c:scaling>
        <c:delete val="0"/>
        <c:axPos val="b"/>
        <c:majorGridlines>
          <c:spPr>
            <a:ln w="9360">
              <a:solidFill>
                <a:srgbClr val="808080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900" b="0" strike="noStrike" spc="-1">
                <a:solidFill>
                  <a:srgbClr val="D9D9D9"/>
                </a:solidFill>
                <a:latin typeface="Calibri"/>
              </a:defRPr>
            </a:pPr>
            <a:endParaRPr lang="en-US"/>
          </a:p>
        </c:txPr>
        <c:crossAx val="71929652"/>
        <c:crosses val="autoZero"/>
        <c:crossBetween val="between"/>
      </c:valAx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900" b="0" strike="noStrike" spc="-1">
              <a:solidFill>
                <a:srgbClr val="D9D9D9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gradFill>
      <a:gsLst>
        <a:gs pos="0">
          <a:srgbClr val="595959"/>
        </a:gs>
        <a:gs pos="100000">
          <a:srgbClr val="262626"/>
        </a:gs>
      </a:gsLst>
      <a:path path="circle">
        <a:fillToRect l="50000" t="50000" r="50000" b="50000"/>
      </a:path>
    </a:gradFill>
    <a:ln w="9360">
      <a:noFill/>
    </a:ln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71ECBD-244F-486C-9CDF-E338D8B9FE92}" type="doc">
      <dgm:prSet loTypeId="urn:microsoft.com/office/officeart/2005/8/layout/lProcess3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2E04F5-7566-49EA-985A-1A897735D2D0}">
      <dgm:prSet phldrT="[Text]" custT="1"/>
      <dgm:spPr/>
      <dgm:t>
        <a:bodyPr/>
        <a:lstStyle/>
        <a:p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Objective 1</a:t>
          </a:r>
        </a:p>
      </dgm:t>
    </dgm:pt>
    <dgm:pt modelId="{CC02F6B4-EB29-4C89-9598-E724E791D274}" type="parTrans" cxnId="{4D5A934D-E42E-4AC3-B6CA-1CDF96F662F1}">
      <dgm:prSet/>
      <dgm:spPr/>
      <dgm:t>
        <a:bodyPr/>
        <a:lstStyle/>
        <a:p>
          <a:endParaRPr lang="en-US"/>
        </a:p>
      </dgm:t>
    </dgm:pt>
    <dgm:pt modelId="{8ABA1ACE-ECBF-4D62-99EB-10F3223768E7}" type="sibTrans" cxnId="{4D5A934D-E42E-4AC3-B6CA-1CDF96F662F1}">
      <dgm:prSet/>
      <dgm:spPr/>
      <dgm:t>
        <a:bodyPr/>
        <a:lstStyle/>
        <a:p>
          <a:endParaRPr lang="en-US"/>
        </a:p>
      </dgm:t>
    </dgm:pt>
    <dgm:pt modelId="{C19924B3-D820-4346-AE90-1A8266E0DE56}">
      <dgm:prSet phldrT="[Text]" custT="1"/>
      <dgm:spPr/>
      <dgm:t>
        <a:bodyPr/>
        <a:lstStyle/>
        <a:p>
          <a:pPr>
            <a:buNone/>
          </a:pPr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Datasets Used</a:t>
          </a:r>
        </a:p>
      </dgm:t>
    </dgm:pt>
    <dgm:pt modelId="{55FC4D86-7ABA-491F-995F-683022C670A5}" type="parTrans" cxnId="{3D58BD7A-C806-4145-99FA-7720BD1854A3}">
      <dgm:prSet/>
      <dgm:spPr/>
      <dgm:t>
        <a:bodyPr/>
        <a:lstStyle/>
        <a:p>
          <a:endParaRPr lang="en-US"/>
        </a:p>
      </dgm:t>
    </dgm:pt>
    <dgm:pt modelId="{428FC4B6-DEE3-46C7-9766-B6FF44986B3D}" type="sibTrans" cxnId="{3D58BD7A-C806-4145-99FA-7720BD1854A3}">
      <dgm:prSet/>
      <dgm:spPr/>
      <dgm:t>
        <a:bodyPr/>
        <a:lstStyle/>
        <a:p>
          <a:endParaRPr lang="en-US"/>
        </a:p>
      </dgm:t>
    </dgm:pt>
    <dgm:pt modelId="{9235F5B3-9592-4117-84C6-C7C59F8812B4}">
      <dgm:prSet phldrT="[Text]" custT="1"/>
      <dgm:spPr/>
      <dgm:t>
        <a:bodyPr/>
        <a:lstStyle/>
        <a:p>
          <a:pPr>
            <a:buNone/>
          </a:pPr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Models Used</a:t>
          </a:r>
        </a:p>
      </dgm:t>
    </dgm:pt>
    <dgm:pt modelId="{6D5CBC79-4F0D-4395-BBE7-7A5A86476BED}" type="parTrans" cxnId="{BC24BFE0-7A20-441F-A407-56AD572C70A9}">
      <dgm:prSet/>
      <dgm:spPr/>
      <dgm:t>
        <a:bodyPr/>
        <a:lstStyle/>
        <a:p>
          <a:endParaRPr lang="en-US"/>
        </a:p>
      </dgm:t>
    </dgm:pt>
    <dgm:pt modelId="{63C90B4A-003A-4386-971E-4390CB3D0994}" type="sibTrans" cxnId="{BC24BFE0-7A20-441F-A407-56AD572C70A9}">
      <dgm:prSet/>
      <dgm:spPr/>
      <dgm:t>
        <a:bodyPr/>
        <a:lstStyle/>
        <a:p>
          <a:endParaRPr lang="en-US"/>
        </a:p>
      </dgm:t>
    </dgm:pt>
    <dgm:pt modelId="{372D5B86-A7F9-4BC6-A78A-D3FD3DFF55AF}">
      <dgm:prSet phldrT="[Text]" custT="1"/>
      <dgm:spPr/>
      <dgm:t>
        <a:bodyPr/>
        <a:lstStyle/>
        <a:p>
          <a:pPr>
            <a:buNone/>
          </a:pPr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Objective 2</a:t>
          </a:r>
        </a:p>
      </dgm:t>
    </dgm:pt>
    <dgm:pt modelId="{B74EF02F-B56A-4ED5-B447-716A4E10D3B4}" type="parTrans" cxnId="{1368816D-FD98-465E-983F-3D022546DB63}">
      <dgm:prSet/>
      <dgm:spPr/>
      <dgm:t>
        <a:bodyPr/>
        <a:lstStyle/>
        <a:p>
          <a:endParaRPr lang="en-US"/>
        </a:p>
      </dgm:t>
    </dgm:pt>
    <dgm:pt modelId="{233B18B0-6D72-46CD-BEA9-5C968447BBA7}" type="sibTrans" cxnId="{1368816D-FD98-465E-983F-3D022546DB63}">
      <dgm:prSet/>
      <dgm:spPr/>
      <dgm:t>
        <a:bodyPr/>
        <a:lstStyle/>
        <a:p>
          <a:endParaRPr lang="en-US"/>
        </a:p>
      </dgm:t>
    </dgm:pt>
    <dgm:pt modelId="{C7142845-3E38-48BA-9AEA-A234FEBC3C4F}">
      <dgm:prSet phldrT="[Text]" custT="1"/>
      <dgm:spPr/>
      <dgm:t>
        <a:bodyPr/>
        <a:lstStyle/>
        <a:p>
          <a:pPr>
            <a:buNone/>
          </a:pPr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Prompt engineering</a:t>
          </a:r>
        </a:p>
      </dgm:t>
    </dgm:pt>
    <dgm:pt modelId="{3AC303AB-3C2F-49BE-BDD9-2850A1C29E33}" type="parTrans" cxnId="{A6E0D6F8-52E3-4485-B937-B1450E21A4EC}">
      <dgm:prSet/>
      <dgm:spPr/>
      <dgm:t>
        <a:bodyPr/>
        <a:lstStyle/>
        <a:p>
          <a:endParaRPr lang="en-US"/>
        </a:p>
      </dgm:t>
    </dgm:pt>
    <dgm:pt modelId="{D31299D5-E84F-48EE-8835-D503C6E4754E}" type="sibTrans" cxnId="{A6E0D6F8-52E3-4485-B937-B1450E21A4EC}">
      <dgm:prSet/>
      <dgm:spPr/>
      <dgm:t>
        <a:bodyPr/>
        <a:lstStyle/>
        <a:p>
          <a:endParaRPr lang="en-US"/>
        </a:p>
      </dgm:t>
    </dgm:pt>
    <dgm:pt modelId="{31FBBBF2-A2FE-4FE4-9A04-6F747A45452B}">
      <dgm:prSet phldrT="[Text]" custT="1"/>
      <dgm:spPr/>
      <dgm:t>
        <a:bodyPr/>
        <a:lstStyle/>
        <a:p>
          <a:pPr>
            <a:buNone/>
          </a:pPr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Fine-Tuning with Low-Rank Adaptation (LoRA)</a:t>
          </a:r>
        </a:p>
      </dgm:t>
    </dgm:pt>
    <dgm:pt modelId="{B361EA16-1C96-461C-B014-B5592973F549}" type="parTrans" cxnId="{B50BBC33-1E4C-4129-AC06-69631572BD52}">
      <dgm:prSet/>
      <dgm:spPr/>
      <dgm:t>
        <a:bodyPr/>
        <a:lstStyle/>
        <a:p>
          <a:endParaRPr lang="en-US"/>
        </a:p>
      </dgm:t>
    </dgm:pt>
    <dgm:pt modelId="{5B2A968D-798E-4356-9BC4-BAD6683F6ED4}" type="sibTrans" cxnId="{B50BBC33-1E4C-4129-AC06-69631572BD52}">
      <dgm:prSet/>
      <dgm:spPr/>
      <dgm:t>
        <a:bodyPr/>
        <a:lstStyle/>
        <a:p>
          <a:endParaRPr lang="en-US"/>
        </a:p>
      </dgm:t>
    </dgm:pt>
    <dgm:pt modelId="{839060B1-1360-4A60-808C-50F31100FFFC}">
      <dgm:prSet custT="1"/>
      <dgm:spPr/>
      <dgm:t>
        <a:bodyPr/>
        <a:lstStyle/>
        <a:p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Testing Procedure</a:t>
          </a:r>
        </a:p>
      </dgm:t>
    </dgm:pt>
    <dgm:pt modelId="{39A2E06B-EF53-4EB1-A6DF-9899D610CB88}" type="parTrans" cxnId="{DD2F5B60-2A48-4661-9CCF-940AA61E9873}">
      <dgm:prSet/>
      <dgm:spPr/>
      <dgm:t>
        <a:bodyPr/>
        <a:lstStyle/>
        <a:p>
          <a:endParaRPr lang="en-US"/>
        </a:p>
      </dgm:t>
    </dgm:pt>
    <dgm:pt modelId="{7030E968-2315-4611-9A9A-2D3567A7A18F}" type="sibTrans" cxnId="{DD2F5B60-2A48-4661-9CCF-940AA61E9873}">
      <dgm:prSet/>
      <dgm:spPr/>
      <dgm:t>
        <a:bodyPr/>
        <a:lstStyle/>
        <a:p>
          <a:endParaRPr lang="en-US"/>
        </a:p>
      </dgm:t>
    </dgm:pt>
    <dgm:pt modelId="{2B565057-A7AA-4E89-BEF7-0DC0D7558EA9}">
      <dgm:prSet custT="1"/>
      <dgm:spPr/>
      <dgm:t>
        <a:bodyPr/>
        <a:lstStyle/>
        <a:p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Evaluation Strategy</a:t>
          </a:r>
        </a:p>
      </dgm:t>
    </dgm:pt>
    <dgm:pt modelId="{C25704B4-A477-4E15-9DF9-13A8520CC559}" type="parTrans" cxnId="{AFC88009-E38B-4BA6-80C3-06032B970FEC}">
      <dgm:prSet/>
      <dgm:spPr/>
      <dgm:t>
        <a:bodyPr/>
        <a:lstStyle/>
        <a:p>
          <a:endParaRPr lang="en-US"/>
        </a:p>
      </dgm:t>
    </dgm:pt>
    <dgm:pt modelId="{D03696AF-5128-4CE9-A8CD-E4741D986830}" type="sibTrans" cxnId="{AFC88009-E38B-4BA6-80C3-06032B970FEC}">
      <dgm:prSet/>
      <dgm:spPr/>
      <dgm:t>
        <a:bodyPr/>
        <a:lstStyle/>
        <a:p>
          <a:endParaRPr lang="en-US"/>
        </a:p>
      </dgm:t>
    </dgm:pt>
    <dgm:pt modelId="{05522CF4-38DC-4D24-9928-D0965A3686A3}">
      <dgm:prSet custT="1"/>
      <dgm:spPr/>
      <dgm:t>
        <a:bodyPr/>
        <a:lstStyle/>
        <a:p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Expected Outcome</a:t>
          </a:r>
        </a:p>
      </dgm:t>
    </dgm:pt>
    <dgm:pt modelId="{C9ADB4BB-EE06-4972-9930-B50259124660}" type="parTrans" cxnId="{E8C5B0D1-3754-4DB4-A360-8A1E6673E812}">
      <dgm:prSet/>
      <dgm:spPr/>
      <dgm:t>
        <a:bodyPr/>
        <a:lstStyle/>
        <a:p>
          <a:endParaRPr lang="en-US"/>
        </a:p>
      </dgm:t>
    </dgm:pt>
    <dgm:pt modelId="{F8891267-F8A9-49AD-AE96-AD8A41B88353}" type="sibTrans" cxnId="{E8C5B0D1-3754-4DB4-A360-8A1E6673E812}">
      <dgm:prSet/>
      <dgm:spPr/>
      <dgm:t>
        <a:bodyPr/>
        <a:lstStyle/>
        <a:p>
          <a:endParaRPr lang="en-US"/>
        </a:p>
      </dgm:t>
    </dgm:pt>
    <dgm:pt modelId="{C9AD0DC6-649D-4D8B-9542-BD81550384D5}">
      <dgm:prSet custT="1"/>
      <dgm:spPr/>
      <dgm:t>
        <a:bodyPr/>
        <a:lstStyle/>
        <a:p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Collecting Four Outputs per Test Prompt</a:t>
          </a:r>
        </a:p>
      </dgm:t>
    </dgm:pt>
    <dgm:pt modelId="{B5F25476-9B1D-4794-8F3E-4A5BB59C7AF4}" type="parTrans" cxnId="{1D589515-A4E6-479C-B282-6C6B6092F45B}">
      <dgm:prSet/>
      <dgm:spPr/>
      <dgm:t>
        <a:bodyPr/>
        <a:lstStyle/>
        <a:p>
          <a:endParaRPr lang="en-US"/>
        </a:p>
      </dgm:t>
    </dgm:pt>
    <dgm:pt modelId="{E70C489B-2B3F-41A8-972E-21E66FA7A82A}" type="sibTrans" cxnId="{1D589515-A4E6-479C-B282-6C6B6092F45B}">
      <dgm:prSet/>
      <dgm:spPr/>
      <dgm:t>
        <a:bodyPr/>
        <a:lstStyle/>
        <a:p>
          <a:endParaRPr lang="en-US"/>
        </a:p>
      </dgm:t>
    </dgm:pt>
    <dgm:pt modelId="{76D27374-9A75-43D6-AD95-84C5AC8FFE6A}">
      <dgm:prSet custT="1"/>
      <dgm:spPr/>
      <dgm:t>
        <a:bodyPr/>
        <a:lstStyle/>
        <a:p>
          <a:r>
            <a:rPr lang="en-US" sz="900" b="1">
              <a:latin typeface="Aptos" panose="020B0004020202020204" pitchFamily="34" charset="0"/>
              <a:cs typeface="Times New Roman" panose="02020603050405020304" pitchFamily="18" charset="0"/>
            </a:rPr>
            <a:t>Evaluating the Improvements</a:t>
          </a:r>
          <a:endParaRPr lang="en-US" sz="900" b="1" dirty="0">
            <a:latin typeface="Aptos" panose="020B0004020202020204" pitchFamily="34" charset="0"/>
            <a:cs typeface="Times New Roman" panose="02020603050405020304" pitchFamily="18" charset="0"/>
          </a:endParaRPr>
        </a:p>
      </dgm:t>
    </dgm:pt>
    <dgm:pt modelId="{93CC83E2-133C-4F95-B31E-06EC262E19DC}" type="parTrans" cxnId="{A90CD1C9-27E3-4B3E-842A-73C01060A646}">
      <dgm:prSet/>
      <dgm:spPr/>
      <dgm:t>
        <a:bodyPr/>
        <a:lstStyle/>
        <a:p>
          <a:endParaRPr lang="en-US"/>
        </a:p>
      </dgm:t>
    </dgm:pt>
    <dgm:pt modelId="{2EBCABAD-5E83-4BD2-B393-C1FF661016E3}" type="sibTrans" cxnId="{A90CD1C9-27E3-4B3E-842A-73C01060A646}">
      <dgm:prSet/>
      <dgm:spPr/>
      <dgm:t>
        <a:bodyPr/>
        <a:lstStyle/>
        <a:p>
          <a:endParaRPr lang="en-US"/>
        </a:p>
      </dgm:t>
    </dgm:pt>
    <dgm:pt modelId="{8A3272F5-9A97-4B61-8ECB-D6BF578B122D}">
      <dgm:prSet phldrT="[Text]" custT="1"/>
      <dgm:spPr/>
      <dgm:t>
        <a:bodyPr/>
        <a:lstStyle/>
        <a:p>
          <a:pPr>
            <a:buNone/>
          </a:pPr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Objective 3</a:t>
          </a:r>
        </a:p>
      </dgm:t>
    </dgm:pt>
    <dgm:pt modelId="{D679C3CE-F603-47CE-BB4B-2CE1798F5864}" type="sibTrans" cxnId="{527AE617-7E24-4650-9AF9-24EB32322B81}">
      <dgm:prSet/>
      <dgm:spPr/>
      <dgm:t>
        <a:bodyPr/>
        <a:lstStyle/>
        <a:p>
          <a:endParaRPr lang="en-US"/>
        </a:p>
      </dgm:t>
    </dgm:pt>
    <dgm:pt modelId="{726ED1F5-680E-4978-9C5E-F49C75BDF3C3}" type="parTrans" cxnId="{527AE617-7E24-4650-9AF9-24EB32322B81}">
      <dgm:prSet/>
      <dgm:spPr/>
      <dgm:t>
        <a:bodyPr/>
        <a:lstStyle/>
        <a:p>
          <a:endParaRPr lang="en-US"/>
        </a:p>
      </dgm:t>
    </dgm:pt>
    <dgm:pt modelId="{16A019FF-63C5-4176-89F5-1927E3E3C2CE}">
      <dgm:prSet phldrT="[Text]" custT="1"/>
      <dgm:spPr/>
      <dgm:t>
        <a:bodyPr/>
        <a:lstStyle/>
        <a:p>
          <a:pPr>
            <a:buNone/>
          </a:pPr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Managing Hardware Constraints</a:t>
          </a:r>
        </a:p>
      </dgm:t>
    </dgm:pt>
    <dgm:pt modelId="{C35557AF-F672-4916-A6A5-1B873527FF42}" type="sibTrans" cxnId="{54CC1CD0-B410-4259-9968-4A3798726B81}">
      <dgm:prSet/>
      <dgm:spPr/>
      <dgm:t>
        <a:bodyPr/>
        <a:lstStyle/>
        <a:p>
          <a:endParaRPr lang="en-US"/>
        </a:p>
      </dgm:t>
    </dgm:pt>
    <dgm:pt modelId="{2DF28024-B142-4144-BD4D-35C8C1213688}" type="parTrans" cxnId="{54CC1CD0-B410-4259-9968-4A3798726B81}">
      <dgm:prSet/>
      <dgm:spPr/>
      <dgm:t>
        <a:bodyPr/>
        <a:lstStyle/>
        <a:p>
          <a:endParaRPr lang="en-US"/>
        </a:p>
      </dgm:t>
    </dgm:pt>
    <dgm:pt modelId="{E8C85F98-CC81-4687-B318-747169FF1F18}">
      <dgm:prSet phldrT="[Text]" custT="1"/>
      <dgm:spPr/>
      <dgm:t>
        <a:bodyPr/>
        <a:lstStyle/>
        <a:p>
          <a:pPr>
            <a:buNone/>
          </a:pPr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Three Workflows Under Evaluation</a:t>
          </a:r>
        </a:p>
      </dgm:t>
    </dgm:pt>
    <dgm:pt modelId="{E5BD58BD-D6F8-406C-9571-DE97E77EF05C}" type="sibTrans" cxnId="{78259005-E62D-4C33-B19F-E0E40C20C6B8}">
      <dgm:prSet/>
      <dgm:spPr/>
      <dgm:t>
        <a:bodyPr/>
        <a:lstStyle/>
        <a:p>
          <a:endParaRPr lang="en-US"/>
        </a:p>
      </dgm:t>
    </dgm:pt>
    <dgm:pt modelId="{E32D5029-4EFB-46BD-99D3-37E58535A8B1}" type="parTrans" cxnId="{78259005-E62D-4C33-B19F-E0E40C20C6B8}">
      <dgm:prSet/>
      <dgm:spPr/>
      <dgm:t>
        <a:bodyPr/>
        <a:lstStyle/>
        <a:p>
          <a:endParaRPr lang="en-US"/>
        </a:p>
      </dgm:t>
    </dgm:pt>
    <dgm:pt modelId="{2361D9F8-0FD5-4492-9B0A-D5F2EBBF83D4}">
      <dgm:prSet custT="1"/>
      <dgm:spPr/>
      <dgm:t>
        <a:bodyPr/>
        <a:lstStyle/>
        <a:p>
          <a:r>
            <a:rPr lang="en-US" sz="900" b="1">
              <a:latin typeface="Aptos" panose="020B0004020202020204" pitchFamily="34" charset="0"/>
              <a:cs typeface="Times New Roman" panose="02020603050405020304" pitchFamily="18" charset="0"/>
            </a:rPr>
            <a:t>Evaluating Story Quality and Efficiency</a:t>
          </a:r>
          <a:endParaRPr lang="en-US" sz="900" b="1" dirty="0">
            <a:latin typeface="Aptos" panose="020B0004020202020204" pitchFamily="34" charset="0"/>
            <a:cs typeface="Times New Roman" panose="02020603050405020304" pitchFamily="18" charset="0"/>
          </a:endParaRPr>
        </a:p>
      </dgm:t>
    </dgm:pt>
    <dgm:pt modelId="{482EB348-49F3-4E7F-9FCD-9857500E6E57}" type="sibTrans" cxnId="{A8AC71BB-2F32-4C57-986A-C14C1886D6F9}">
      <dgm:prSet/>
      <dgm:spPr/>
      <dgm:t>
        <a:bodyPr/>
        <a:lstStyle/>
        <a:p>
          <a:endParaRPr lang="en-US"/>
        </a:p>
      </dgm:t>
    </dgm:pt>
    <dgm:pt modelId="{F0B759E4-E9D7-4C20-AD33-7F9CA628911E}" type="parTrans" cxnId="{A8AC71BB-2F32-4C57-986A-C14C1886D6F9}">
      <dgm:prSet/>
      <dgm:spPr/>
      <dgm:t>
        <a:bodyPr/>
        <a:lstStyle/>
        <a:p>
          <a:endParaRPr lang="en-US"/>
        </a:p>
      </dgm:t>
    </dgm:pt>
    <dgm:pt modelId="{31CB363B-7268-4017-A6E1-5174987419A0}">
      <dgm:prSet custT="1"/>
      <dgm:spPr/>
      <dgm:t>
        <a:bodyPr/>
        <a:lstStyle/>
        <a:p>
          <a:r>
            <a:rPr lang="en-US" sz="900" b="1" dirty="0">
              <a:latin typeface="Aptos" panose="020B0004020202020204" pitchFamily="34" charset="0"/>
              <a:cs typeface="Times New Roman" panose="02020603050405020304" pitchFamily="18" charset="0"/>
            </a:rPr>
            <a:t>Final Selection and Recommendation</a:t>
          </a:r>
        </a:p>
      </dgm:t>
    </dgm:pt>
    <dgm:pt modelId="{472D3486-4F8E-44B1-96E7-D351A65608EB}" type="sibTrans" cxnId="{FF74F26E-C0D1-46D1-AB4A-31A0A4B55659}">
      <dgm:prSet/>
      <dgm:spPr/>
      <dgm:t>
        <a:bodyPr/>
        <a:lstStyle/>
        <a:p>
          <a:endParaRPr lang="en-US"/>
        </a:p>
      </dgm:t>
    </dgm:pt>
    <dgm:pt modelId="{9862271F-1DB3-47A3-836E-96B0C477840F}" type="parTrans" cxnId="{FF74F26E-C0D1-46D1-AB4A-31A0A4B55659}">
      <dgm:prSet/>
      <dgm:spPr/>
      <dgm:t>
        <a:bodyPr/>
        <a:lstStyle/>
        <a:p>
          <a:endParaRPr lang="en-US"/>
        </a:p>
      </dgm:t>
    </dgm:pt>
    <dgm:pt modelId="{C263CE16-7EEF-491B-9404-02F10A383385}" type="pres">
      <dgm:prSet presAssocID="{C671ECBD-244F-486C-9CDF-E338D8B9FE9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E077511C-AE14-479A-AB47-4D78E6D48822}" type="pres">
      <dgm:prSet presAssocID="{062E04F5-7566-49EA-985A-1A897735D2D0}" presName="horFlow" presStyleCnt="0"/>
      <dgm:spPr/>
    </dgm:pt>
    <dgm:pt modelId="{6F09B391-8B4D-4BE3-87EB-0567BAD8BB68}" type="pres">
      <dgm:prSet presAssocID="{062E04F5-7566-49EA-985A-1A897735D2D0}" presName="bigChev" presStyleLbl="node1" presStyleIdx="0" presStyleCnt="3" custScaleY="83518" custLinFactY="-92214" custLinFactNeighborX="-3399" custLinFactNeighborY="-100000"/>
      <dgm:spPr/>
    </dgm:pt>
    <dgm:pt modelId="{7ECE410F-0D97-41C4-93D8-C72A8134C811}" type="pres">
      <dgm:prSet presAssocID="{55FC4D86-7ABA-491F-995F-683022C670A5}" presName="parTrans" presStyleCnt="0"/>
      <dgm:spPr/>
    </dgm:pt>
    <dgm:pt modelId="{99D7FDCB-56FB-419A-9A55-2C696A70F057}" type="pres">
      <dgm:prSet presAssocID="{C19924B3-D820-4346-AE90-1A8266E0DE56}" presName="node" presStyleLbl="alignAccFollowNode1" presStyleIdx="0" presStyleCnt="13" custLinFactY="-100000" custLinFactNeighborX="-3803" custLinFactNeighborY="-131583">
        <dgm:presLayoutVars>
          <dgm:bulletEnabled val="1"/>
        </dgm:presLayoutVars>
      </dgm:prSet>
      <dgm:spPr/>
    </dgm:pt>
    <dgm:pt modelId="{368AA938-C267-4F5C-957B-5F4B41AFA458}" type="pres">
      <dgm:prSet presAssocID="{428FC4B6-DEE3-46C7-9766-B6FF44986B3D}" presName="sibTrans" presStyleCnt="0"/>
      <dgm:spPr/>
    </dgm:pt>
    <dgm:pt modelId="{0A931ED2-F233-44C3-A7B5-9A98FED6ACB8}" type="pres">
      <dgm:prSet presAssocID="{9235F5B3-9592-4117-84C6-C7C59F8812B4}" presName="node" presStyleLbl="alignAccFollowNode1" presStyleIdx="1" presStyleCnt="13" custLinFactY="-100000" custLinFactNeighborX="-3803" custLinFactNeighborY="-131583">
        <dgm:presLayoutVars>
          <dgm:bulletEnabled val="1"/>
        </dgm:presLayoutVars>
      </dgm:prSet>
      <dgm:spPr/>
    </dgm:pt>
    <dgm:pt modelId="{EED9FB05-0984-4594-A94A-8666A93F5A21}" type="pres">
      <dgm:prSet presAssocID="{63C90B4A-003A-4386-971E-4390CB3D0994}" presName="sibTrans" presStyleCnt="0"/>
      <dgm:spPr/>
    </dgm:pt>
    <dgm:pt modelId="{307312C6-F771-4D4B-978A-02DC43264E3E}" type="pres">
      <dgm:prSet presAssocID="{839060B1-1360-4A60-808C-50F31100FFFC}" presName="node" presStyleLbl="alignAccFollowNode1" presStyleIdx="2" presStyleCnt="13" custLinFactY="-100000" custLinFactNeighborX="-3803" custLinFactNeighborY="-131583">
        <dgm:presLayoutVars>
          <dgm:bulletEnabled val="1"/>
        </dgm:presLayoutVars>
      </dgm:prSet>
      <dgm:spPr/>
    </dgm:pt>
    <dgm:pt modelId="{62FB727B-A42B-4FB7-9589-2CFB5A34B27C}" type="pres">
      <dgm:prSet presAssocID="{7030E968-2315-4611-9A9A-2D3567A7A18F}" presName="sibTrans" presStyleCnt="0"/>
      <dgm:spPr/>
    </dgm:pt>
    <dgm:pt modelId="{5F6D545E-14A6-4215-B768-22FAC0A49283}" type="pres">
      <dgm:prSet presAssocID="{2B565057-A7AA-4E89-BEF7-0DC0D7558EA9}" presName="node" presStyleLbl="alignAccFollowNode1" presStyleIdx="3" presStyleCnt="13" custLinFactY="-100000" custLinFactNeighborX="-3803" custLinFactNeighborY="-131583">
        <dgm:presLayoutVars>
          <dgm:bulletEnabled val="1"/>
        </dgm:presLayoutVars>
      </dgm:prSet>
      <dgm:spPr/>
    </dgm:pt>
    <dgm:pt modelId="{D72EE235-1A44-44E5-BCFD-9ACBFE91D137}" type="pres">
      <dgm:prSet presAssocID="{D03696AF-5128-4CE9-A8CD-E4741D986830}" presName="sibTrans" presStyleCnt="0"/>
      <dgm:spPr/>
    </dgm:pt>
    <dgm:pt modelId="{4BA6DC40-C4E7-4A43-8834-D298AFB6225E}" type="pres">
      <dgm:prSet presAssocID="{05522CF4-38DC-4D24-9928-D0965A3686A3}" presName="node" presStyleLbl="alignAccFollowNode1" presStyleIdx="4" presStyleCnt="13" custLinFactY="-100000" custLinFactNeighborX="-3803" custLinFactNeighborY="-131583">
        <dgm:presLayoutVars>
          <dgm:bulletEnabled val="1"/>
        </dgm:presLayoutVars>
      </dgm:prSet>
      <dgm:spPr/>
    </dgm:pt>
    <dgm:pt modelId="{EE88FAAA-941B-4933-9391-CD202F774517}" type="pres">
      <dgm:prSet presAssocID="{062E04F5-7566-49EA-985A-1A897735D2D0}" presName="vSp" presStyleCnt="0"/>
      <dgm:spPr/>
    </dgm:pt>
    <dgm:pt modelId="{1860C772-9D8F-4C11-B415-A109E85441D7}" type="pres">
      <dgm:prSet presAssocID="{372D5B86-A7F9-4BC6-A78A-D3FD3DFF55AF}" presName="horFlow" presStyleCnt="0"/>
      <dgm:spPr/>
    </dgm:pt>
    <dgm:pt modelId="{A24AC7ED-7E9C-48B3-859A-7DE29580606C}" type="pres">
      <dgm:prSet presAssocID="{372D5B86-A7F9-4BC6-A78A-D3FD3DFF55AF}" presName="bigChev" presStyleLbl="node1" presStyleIdx="1" presStyleCnt="3" custScaleY="85147" custLinFactNeighborX="6798" custLinFactNeighborY="-99914"/>
      <dgm:spPr/>
    </dgm:pt>
    <dgm:pt modelId="{357CC29A-748B-4CE5-BA0D-7F4E6F438FB1}" type="pres">
      <dgm:prSet presAssocID="{3AC303AB-3C2F-49BE-BDD9-2850A1C29E33}" presName="parTrans" presStyleCnt="0"/>
      <dgm:spPr/>
    </dgm:pt>
    <dgm:pt modelId="{5300369B-4674-4C59-B752-DC537DBE4484}" type="pres">
      <dgm:prSet presAssocID="{C7142845-3E38-48BA-9AEA-A234FEBC3C4F}" presName="node" presStyleLbl="alignAccFollowNode1" presStyleIdx="5" presStyleCnt="13" custLinFactY="-20379" custLinFactNeighborX="7605" custLinFactNeighborY="-100000">
        <dgm:presLayoutVars>
          <dgm:bulletEnabled val="1"/>
        </dgm:presLayoutVars>
      </dgm:prSet>
      <dgm:spPr/>
    </dgm:pt>
    <dgm:pt modelId="{5D76953B-0006-411A-8763-18F6E7F65A43}" type="pres">
      <dgm:prSet presAssocID="{D31299D5-E84F-48EE-8835-D503C6E4754E}" presName="sibTrans" presStyleCnt="0"/>
      <dgm:spPr/>
    </dgm:pt>
    <dgm:pt modelId="{024A3CDA-6D64-47DD-A0A2-D5F593F22452}" type="pres">
      <dgm:prSet presAssocID="{31FBBBF2-A2FE-4FE4-9A04-6F747A45452B}" presName="node" presStyleLbl="alignAccFollowNode1" presStyleIdx="6" presStyleCnt="13" custLinFactY="-20379" custLinFactNeighborX="7605" custLinFactNeighborY="-100000">
        <dgm:presLayoutVars>
          <dgm:bulletEnabled val="1"/>
        </dgm:presLayoutVars>
      </dgm:prSet>
      <dgm:spPr/>
    </dgm:pt>
    <dgm:pt modelId="{0848F623-A252-4ECB-A6AA-6EFD701948A1}" type="pres">
      <dgm:prSet presAssocID="{5B2A968D-798E-4356-9BC4-BAD6683F6ED4}" presName="sibTrans" presStyleCnt="0"/>
      <dgm:spPr/>
    </dgm:pt>
    <dgm:pt modelId="{BC298671-F925-4C69-A5AA-91356E6BD9C3}" type="pres">
      <dgm:prSet presAssocID="{C9AD0DC6-649D-4D8B-9542-BD81550384D5}" presName="node" presStyleLbl="alignAccFollowNode1" presStyleIdx="7" presStyleCnt="13" custLinFactY="-20379" custLinFactNeighborX="7605" custLinFactNeighborY="-100000">
        <dgm:presLayoutVars>
          <dgm:bulletEnabled val="1"/>
        </dgm:presLayoutVars>
      </dgm:prSet>
      <dgm:spPr/>
    </dgm:pt>
    <dgm:pt modelId="{EEA268B7-40CC-47F2-A789-087D642329BB}" type="pres">
      <dgm:prSet presAssocID="{E70C489B-2B3F-41A8-972E-21E66FA7A82A}" presName="sibTrans" presStyleCnt="0"/>
      <dgm:spPr/>
    </dgm:pt>
    <dgm:pt modelId="{4718F21F-0416-45B5-9E17-FB000C975270}" type="pres">
      <dgm:prSet presAssocID="{76D27374-9A75-43D6-AD95-84C5AC8FFE6A}" presName="node" presStyleLbl="alignAccFollowNode1" presStyleIdx="8" presStyleCnt="13" custLinFactY="-20379" custLinFactNeighborX="7605" custLinFactNeighborY="-100000">
        <dgm:presLayoutVars>
          <dgm:bulletEnabled val="1"/>
        </dgm:presLayoutVars>
      </dgm:prSet>
      <dgm:spPr/>
    </dgm:pt>
    <dgm:pt modelId="{E4AC687E-E22F-47D5-860F-4FC4453323E6}" type="pres">
      <dgm:prSet presAssocID="{372D5B86-A7F9-4BC6-A78A-D3FD3DFF55AF}" presName="vSp" presStyleCnt="0"/>
      <dgm:spPr/>
    </dgm:pt>
    <dgm:pt modelId="{48B4561D-9532-4E12-8C27-28056EF5A858}" type="pres">
      <dgm:prSet presAssocID="{8A3272F5-9A97-4B61-8ECB-D6BF578B122D}" presName="horFlow" presStyleCnt="0"/>
      <dgm:spPr/>
    </dgm:pt>
    <dgm:pt modelId="{30D469AE-4C12-4C4D-8FB1-70EEAF33E9EF}" type="pres">
      <dgm:prSet presAssocID="{8A3272F5-9A97-4B61-8ECB-D6BF578B122D}" presName="bigChev" presStyleLbl="node1" presStyleIdx="2" presStyleCnt="3" custScaleY="83660"/>
      <dgm:spPr/>
    </dgm:pt>
    <dgm:pt modelId="{78495104-1179-41F8-A2F0-01E2A4C0F87F}" type="pres">
      <dgm:prSet presAssocID="{2DF28024-B142-4144-BD4D-35C8C1213688}" presName="parTrans" presStyleCnt="0"/>
      <dgm:spPr/>
    </dgm:pt>
    <dgm:pt modelId="{9A04A743-AC10-4D88-947E-986F825784FC}" type="pres">
      <dgm:prSet presAssocID="{16A019FF-63C5-4176-89F5-1927E3E3C2CE}" presName="node" presStyleLbl="alignAccFollowNode1" presStyleIdx="9" presStyleCnt="13">
        <dgm:presLayoutVars>
          <dgm:bulletEnabled val="1"/>
        </dgm:presLayoutVars>
      </dgm:prSet>
      <dgm:spPr/>
    </dgm:pt>
    <dgm:pt modelId="{EE71C824-8E63-4B71-846E-FD9071D8F864}" type="pres">
      <dgm:prSet presAssocID="{C35557AF-F672-4916-A6A5-1B873527FF42}" presName="sibTrans" presStyleCnt="0"/>
      <dgm:spPr/>
    </dgm:pt>
    <dgm:pt modelId="{F3FFFB61-5442-44AD-A7FE-40CBAB2550F7}" type="pres">
      <dgm:prSet presAssocID="{E8C85F98-CC81-4687-B318-747169FF1F18}" presName="node" presStyleLbl="alignAccFollowNode1" presStyleIdx="10" presStyleCnt="13">
        <dgm:presLayoutVars>
          <dgm:bulletEnabled val="1"/>
        </dgm:presLayoutVars>
      </dgm:prSet>
      <dgm:spPr/>
    </dgm:pt>
    <dgm:pt modelId="{E2ACCE68-E03A-4EE4-9B67-AC1EEEE48AC5}" type="pres">
      <dgm:prSet presAssocID="{E5BD58BD-D6F8-406C-9571-DE97E77EF05C}" presName="sibTrans" presStyleCnt="0"/>
      <dgm:spPr/>
    </dgm:pt>
    <dgm:pt modelId="{B66E1313-E2F6-4796-AFB3-1BD7C70F37C9}" type="pres">
      <dgm:prSet presAssocID="{2361D9F8-0FD5-4492-9B0A-D5F2EBBF83D4}" presName="node" presStyleLbl="alignAccFollowNode1" presStyleIdx="11" presStyleCnt="13">
        <dgm:presLayoutVars>
          <dgm:bulletEnabled val="1"/>
        </dgm:presLayoutVars>
      </dgm:prSet>
      <dgm:spPr/>
    </dgm:pt>
    <dgm:pt modelId="{980B6D05-C699-43A7-886C-FB77A1861C45}" type="pres">
      <dgm:prSet presAssocID="{482EB348-49F3-4E7F-9FCD-9857500E6E57}" presName="sibTrans" presStyleCnt="0"/>
      <dgm:spPr/>
    </dgm:pt>
    <dgm:pt modelId="{38A3C6F8-9E71-4370-8B37-F11117CB7203}" type="pres">
      <dgm:prSet presAssocID="{31CB363B-7268-4017-A6E1-5174987419A0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78259005-E62D-4C33-B19F-E0E40C20C6B8}" srcId="{8A3272F5-9A97-4B61-8ECB-D6BF578B122D}" destId="{E8C85F98-CC81-4687-B318-747169FF1F18}" srcOrd="1" destOrd="0" parTransId="{E32D5029-4EFB-46BD-99D3-37E58535A8B1}" sibTransId="{E5BD58BD-D6F8-406C-9571-DE97E77EF05C}"/>
    <dgm:cxn modelId="{AFC88009-E38B-4BA6-80C3-06032B970FEC}" srcId="{062E04F5-7566-49EA-985A-1A897735D2D0}" destId="{2B565057-A7AA-4E89-BEF7-0DC0D7558EA9}" srcOrd="3" destOrd="0" parTransId="{C25704B4-A477-4E15-9DF9-13A8520CC559}" sibTransId="{D03696AF-5128-4CE9-A8CD-E4741D986830}"/>
    <dgm:cxn modelId="{1D589515-A4E6-479C-B282-6C6B6092F45B}" srcId="{372D5B86-A7F9-4BC6-A78A-D3FD3DFF55AF}" destId="{C9AD0DC6-649D-4D8B-9542-BD81550384D5}" srcOrd="2" destOrd="0" parTransId="{B5F25476-9B1D-4794-8F3E-4A5BB59C7AF4}" sibTransId="{E70C489B-2B3F-41A8-972E-21E66FA7A82A}"/>
    <dgm:cxn modelId="{527AE617-7E24-4650-9AF9-24EB32322B81}" srcId="{C671ECBD-244F-486C-9CDF-E338D8B9FE92}" destId="{8A3272F5-9A97-4B61-8ECB-D6BF578B122D}" srcOrd="2" destOrd="0" parTransId="{726ED1F5-680E-4978-9C5E-F49C75BDF3C3}" sibTransId="{D679C3CE-F603-47CE-BB4B-2CE1798F5864}"/>
    <dgm:cxn modelId="{9714A419-04F1-4D57-AA05-3E404AFC000E}" type="presOf" srcId="{C19924B3-D820-4346-AE90-1A8266E0DE56}" destId="{99D7FDCB-56FB-419A-9A55-2C696A70F057}" srcOrd="0" destOrd="0" presId="urn:microsoft.com/office/officeart/2005/8/layout/lProcess3"/>
    <dgm:cxn modelId="{F25ACC1B-0E90-45F2-9B34-990F8817954B}" type="presOf" srcId="{C7142845-3E38-48BA-9AEA-A234FEBC3C4F}" destId="{5300369B-4674-4C59-B752-DC537DBE4484}" srcOrd="0" destOrd="0" presId="urn:microsoft.com/office/officeart/2005/8/layout/lProcess3"/>
    <dgm:cxn modelId="{5770C620-993C-42A5-B4AB-D5C69F225D6C}" type="presOf" srcId="{2361D9F8-0FD5-4492-9B0A-D5F2EBBF83D4}" destId="{B66E1313-E2F6-4796-AFB3-1BD7C70F37C9}" srcOrd="0" destOrd="0" presId="urn:microsoft.com/office/officeart/2005/8/layout/lProcess3"/>
    <dgm:cxn modelId="{B50BBC33-1E4C-4129-AC06-69631572BD52}" srcId="{372D5B86-A7F9-4BC6-A78A-D3FD3DFF55AF}" destId="{31FBBBF2-A2FE-4FE4-9A04-6F747A45452B}" srcOrd="1" destOrd="0" parTransId="{B361EA16-1C96-461C-B014-B5592973F549}" sibTransId="{5B2A968D-798E-4356-9BC4-BAD6683F6ED4}"/>
    <dgm:cxn modelId="{AA7D1A5D-D736-4E7A-B9DD-3B957404B540}" type="presOf" srcId="{16A019FF-63C5-4176-89F5-1927E3E3C2CE}" destId="{9A04A743-AC10-4D88-947E-986F825784FC}" srcOrd="0" destOrd="0" presId="urn:microsoft.com/office/officeart/2005/8/layout/lProcess3"/>
    <dgm:cxn modelId="{DD2F5B60-2A48-4661-9CCF-940AA61E9873}" srcId="{062E04F5-7566-49EA-985A-1A897735D2D0}" destId="{839060B1-1360-4A60-808C-50F31100FFFC}" srcOrd="2" destOrd="0" parTransId="{39A2E06B-EF53-4EB1-A6DF-9899D610CB88}" sibTransId="{7030E968-2315-4611-9A9A-2D3567A7A18F}"/>
    <dgm:cxn modelId="{1368816D-FD98-465E-983F-3D022546DB63}" srcId="{C671ECBD-244F-486C-9CDF-E338D8B9FE92}" destId="{372D5B86-A7F9-4BC6-A78A-D3FD3DFF55AF}" srcOrd="1" destOrd="0" parTransId="{B74EF02F-B56A-4ED5-B447-716A4E10D3B4}" sibTransId="{233B18B0-6D72-46CD-BEA9-5C968447BBA7}"/>
    <dgm:cxn modelId="{4D5A934D-E42E-4AC3-B6CA-1CDF96F662F1}" srcId="{C671ECBD-244F-486C-9CDF-E338D8B9FE92}" destId="{062E04F5-7566-49EA-985A-1A897735D2D0}" srcOrd="0" destOrd="0" parTransId="{CC02F6B4-EB29-4C89-9598-E724E791D274}" sibTransId="{8ABA1ACE-ECBF-4D62-99EB-10F3223768E7}"/>
    <dgm:cxn modelId="{FF74F26E-C0D1-46D1-AB4A-31A0A4B55659}" srcId="{8A3272F5-9A97-4B61-8ECB-D6BF578B122D}" destId="{31CB363B-7268-4017-A6E1-5174987419A0}" srcOrd="3" destOrd="0" parTransId="{9862271F-1DB3-47A3-836E-96B0C477840F}" sibTransId="{472D3486-4F8E-44B1-96E7-D351A65608EB}"/>
    <dgm:cxn modelId="{06E12E71-308E-4638-8B71-D83130A7B678}" type="presOf" srcId="{31FBBBF2-A2FE-4FE4-9A04-6F747A45452B}" destId="{024A3CDA-6D64-47DD-A0A2-D5F593F22452}" srcOrd="0" destOrd="0" presId="urn:microsoft.com/office/officeart/2005/8/layout/lProcess3"/>
    <dgm:cxn modelId="{D4731C55-45C7-44EB-8AE5-EDCD83D6E4CB}" type="presOf" srcId="{E8C85F98-CC81-4687-B318-747169FF1F18}" destId="{F3FFFB61-5442-44AD-A7FE-40CBAB2550F7}" srcOrd="0" destOrd="0" presId="urn:microsoft.com/office/officeart/2005/8/layout/lProcess3"/>
    <dgm:cxn modelId="{3D58BD7A-C806-4145-99FA-7720BD1854A3}" srcId="{062E04F5-7566-49EA-985A-1A897735D2D0}" destId="{C19924B3-D820-4346-AE90-1A8266E0DE56}" srcOrd="0" destOrd="0" parTransId="{55FC4D86-7ABA-491F-995F-683022C670A5}" sibTransId="{428FC4B6-DEE3-46C7-9766-B6FF44986B3D}"/>
    <dgm:cxn modelId="{BF05F07C-DD75-4703-8615-53A7FA5FF0F4}" type="presOf" srcId="{2B565057-A7AA-4E89-BEF7-0DC0D7558EA9}" destId="{5F6D545E-14A6-4215-B768-22FAC0A49283}" srcOrd="0" destOrd="0" presId="urn:microsoft.com/office/officeart/2005/8/layout/lProcess3"/>
    <dgm:cxn modelId="{285DF67E-B0FD-42BC-92BD-FA08BB807781}" type="presOf" srcId="{C9AD0DC6-649D-4D8B-9542-BD81550384D5}" destId="{BC298671-F925-4C69-A5AA-91356E6BD9C3}" srcOrd="0" destOrd="0" presId="urn:microsoft.com/office/officeart/2005/8/layout/lProcess3"/>
    <dgm:cxn modelId="{E58AA181-02C1-47CF-9BC4-13ACB42DEEB3}" type="presOf" srcId="{372D5B86-A7F9-4BC6-A78A-D3FD3DFF55AF}" destId="{A24AC7ED-7E9C-48B3-859A-7DE29580606C}" srcOrd="0" destOrd="0" presId="urn:microsoft.com/office/officeart/2005/8/layout/lProcess3"/>
    <dgm:cxn modelId="{8966A28A-E069-4BE4-86AA-AF1259785B70}" type="presOf" srcId="{76D27374-9A75-43D6-AD95-84C5AC8FFE6A}" destId="{4718F21F-0416-45B5-9E17-FB000C975270}" srcOrd="0" destOrd="0" presId="urn:microsoft.com/office/officeart/2005/8/layout/lProcess3"/>
    <dgm:cxn modelId="{06F95A93-9822-4370-AEA8-AB999BE2D09A}" type="presOf" srcId="{9235F5B3-9592-4117-84C6-C7C59F8812B4}" destId="{0A931ED2-F233-44C3-A7B5-9A98FED6ACB8}" srcOrd="0" destOrd="0" presId="urn:microsoft.com/office/officeart/2005/8/layout/lProcess3"/>
    <dgm:cxn modelId="{BF0A43A2-B664-4922-9448-9E42661DA15E}" type="presOf" srcId="{C671ECBD-244F-486C-9CDF-E338D8B9FE92}" destId="{C263CE16-7EEF-491B-9404-02F10A383385}" srcOrd="0" destOrd="0" presId="urn:microsoft.com/office/officeart/2005/8/layout/lProcess3"/>
    <dgm:cxn modelId="{A8AC71BB-2F32-4C57-986A-C14C1886D6F9}" srcId="{8A3272F5-9A97-4B61-8ECB-D6BF578B122D}" destId="{2361D9F8-0FD5-4492-9B0A-D5F2EBBF83D4}" srcOrd="2" destOrd="0" parTransId="{F0B759E4-E9D7-4C20-AD33-7F9CA628911E}" sibTransId="{482EB348-49F3-4E7F-9FCD-9857500E6E57}"/>
    <dgm:cxn modelId="{E356C3BC-16C7-4D87-B83C-B791960B27A1}" type="presOf" srcId="{05522CF4-38DC-4D24-9928-D0965A3686A3}" destId="{4BA6DC40-C4E7-4A43-8834-D298AFB6225E}" srcOrd="0" destOrd="0" presId="urn:microsoft.com/office/officeart/2005/8/layout/lProcess3"/>
    <dgm:cxn modelId="{A90CD1C9-27E3-4B3E-842A-73C01060A646}" srcId="{372D5B86-A7F9-4BC6-A78A-D3FD3DFF55AF}" destId="{76D27374-9A75-43D6-AD95-84C5AC8FFE6A}" srcOrd="3" destOrd="0" parTransId="{93CC83E2-133C-4F95-B31E-06EC262E19DC}" sibTransId="{2EBCABAD-5E83-4BD2-B393-C1FF661016E3}"/>
    <dgm:cxn modelId="{54CC1CD0-B410-4259-9968-4A3798726B81}" srcId="{8A3272F5-9A97-4B61-8ECB-D6BF578B122D}" destId="{16A019FF-63C5-4176-89F5-1927E3E3C2CE}" srcOrd="0" destOrd="0" parTransId="{2DF28024-B142-4144-BD4D-35C8C1213688}" sibTransId="{C35557AF-F672-4916-A6A5-1B873527FF42}"/>
    <dgm:cxn modelId="{E8C5B0D1-3754-4DB4-A360-8A1E6673E812}" srcId="{062E04F5-7566-49EA-985A-1A897735D2D0}" destId="{05522CF4-38DC-4D24-9928-D0965A3686A3}" srcOrd="4" destOrd="0" parTransId="{C9ADB4BB-EE06-4972-9930-B50259124660}" sibTransId="{F8891267-F8A9-49AD-AE96-AD8A41B88353}"/>
    <dgm:cxn modelId="{B42A7BD3-25EB-4956-80FE-940A1F3828A6}" type="presOf" srcId="{062E04F5-7566-49EA-985A-1A897735D2D0}" destId="{6F09B391-8B4D-4BE3-87EB-0567BAD8BB68}" srcOrd="0" destOrd="0" presId="urn:microsoft.com/office/officeart/2005/8/layout/lProcess3"/>
    <dgm:cxn modelId="{BC24BFE0-7A20-441F-A407-56AD572C70A9}" srcId="{062E04F5-7566-49EA-985A-1A897735D2D0}" destId="{9235F5B3-9592-4117-84C6-C7C59F8812B4}" srcOrd="1" destOrd="0" parTransId="{6D5CBC79-4F0D-4395-BBE7-7A5A86476BED}" sibTransId="{63C90B4A-003A-4386-971E-4390CB3D0994}"/>
    <dgm:cxn modelId="{0015B1F4-9003-4544-A3AE-E0EE1B43A95D}" type="presOf" srcId="{8A3272F5-9A97-4B61-8ECB-D6BF578B122D}" destId="{30D469AE-4C12-4C4D-8FB1-70EEAF33E9EF}" srcOrd="0" destOrd="0" presId="urn:microsoft.com/office/officeart/2005/8/layout/lProcess3"/>
    <dgm:cxn modelId="{703665F7-E5D5-465F-BE82-9017F37851EA}" type="presOf" srcId="{31CB363B-7268-4017-A6E1-5174987419A0}" destId="{38A3C6F8-9E71-4370-8B37-F11117CB7203}" srcOrd="0" destOrd="0" presId="urn:microsoft.com/office/officeart/2005/8/layout/lProcess3"/>
    <dgm:cxn modelId="{A6E0D6F8-52E3-4485-B937-B1450E21A4EC}" srcId="{372D5B86-A7F9-4BC6-A78A-D3FD3DFF55AF}" destId="{C7142845-3E38-48BA-9AEA-A234FEBC3C4F}" srcOrd="0" destOrd="0" parTransId="{3AC303AB-3C2F-49BE-BDD9-2850A1C29E33}" sibTransId="{D31299D5-E84F-48EE-8835-D503C6E4754E}"/>
    <dgm:cxn modelId="{4E7594FA-250A-43B0-A285-AC4230A7BDC4}" type="presOf" srcId="{839060B1-1360-4A60-808C-50F31100FFFC}" destId="{307312C6-F771-4D4B-978A-02DC43264E3E}" srcOrd="0" destOrd="0" presId="urn:microsoft.com/office/officeart/2005/8/layout/lProcess3"/>
    <dgm:cxn modelId="{8DDFE295-AAE6-4E2A-86CC-7F8D1DFDE0F4}" type="presParOf" srcId="{C263CE16-7EEF-491B-9404-02F10A383385}" destId="{E077511C-AE14-479A-AB47-4D78E6D48822}" srcOrd="0" destOrd="0" presId="urn:microsoft.com/office/officeart/2005/8/layout/lProcess3"/>
    <dgm:cxn modelId="{9C906BB0-5FE3-43F0-B779-1B98F980F479}" type="presParOf" srcId="{E077511C-AE14-479A-AB47-4D78E6D48822}" destId="{6F09B391-8B4D-4BE3-87EB-0567BAD8BB68}" srcOrd="0" destOrd="0" presId="urn:microsoft.com/office/officeart/2005/8/layout/lProcess3"/>
    <dgm:cxn modelId="{F1A92C0A-C1EB-49E7-ACAB-82F125E48332}" type="presParOf" srcId="{E077511C-AE14-479A-AB47-4D78E6D48822}" destId="{7ECE410F-0D97-41C4-93D8-C72A8134C811}" srcOrd="1" destOrd="0" presId="urn:microsoft.com/office/officeart/2005/8/layout/lProcess3"/>
    <dgm:cxn modelId="{FFFBC1F5-1665-4661-89E9-914E7ED24CEC}" type="presParOf" srcId="{E077511C-AE14-479A-AB47-4D78E6D48822}" destId="{99D7FDCB-56FB-419A-9A55-2C696A70F057}" srcOrd="2" destOrd="0" presId="urn:microsoft.com/office/officeart/2005/8/layout/lProcess3"/>
    <dgm:cxn modelId="{38691F45-F492-47DA-B0C0-BAAA9A7CB00C}" type="presParOf" srcId="{E077511C-AE14-479A-AB47-4D78E6D48822}" destId="{368AA938-C267-4F5C-957B-5F4B41AFA458}" srcOrd="3" destOrd="0" presId="urn:microsoft.com/office/officeart/2005/8/layout/lProcess3"/>
    <dgm:cxn modelId="{ED94BEE2-9741-4736-A3E3-77D5A4263E83}" type="presParOf" srcId="{E077511C-AE14-479A-AB47-4D78E6D48822}" destId="{0A931ED2-F233-44C3-A7B5-9A98FED6ACB8}" srcOrd="4" destOrd="0" presId="urn:microsoft.com/office/officeart/2005/8/layout/lProcess3"/>
    <dgm:cxn modelId="{BAC9140B-0292-41DD-BBA1-4818D80808B3}" type="presParOf" srcId="{E077511C-AE14-479A-AB47-4D78E6D48822}" destId="{EED9FB05-0984-4594-A94A-8666A93F5A21}" srcOrd="5" destOrd="0" presId="urn:microsoft.com/office/officeart/2005/8/layout/lProcess3"/>
    <dgm:cxn modelId="{6B2731C0-AB75-48E2-AA63-0CFCC2829DE1}" type="presParOf" srcId="{E077511C-AE14-479A-AB47-4D78E6D48822}" destId="{307312C6-F771-4D4B-978A-02DC43264E3E}" srcOrd="6" destOrd="0" presId="urn:microsoft.com/office/officeart/2005/8/layout/lProcess3"/>
    <dgm:cxn modelId="{7AE42BB4-31DF-4E24-A5E0-3C02EFFFD788}" type="presParOf" srcId="{E077511C-AE14-479A-AB47-4D78E6D48822}" destId="{62FB727B-A42B-4FB7-9589-2CFB5A34B27C}" srcOrd="7" destOrd="0" presId="urn:microsoft.com/office/officeart/2005/8/layout/lProcess3"/>
    <dgm:cxn modelId="{EC7956EB-29D9-4870-8B60-8733446EDB61}" type="presParOf" srcId="{E077511C-AE14-479A-AB47-4D78E6D48822}" destId="{5F6D545E-14A6-4215-B768-22FAC0A49283}" srcOrd="8" destOrd="0" presId="urn:microsoft.com/office/officeart/2005/8/layout/lProcess3"/>
    <dgm:cxn modelId="{143475DD-7054-4447-BD8D-2EF14571AB1F}" type="presParOf" srcId="{E077511C-AE14-479A-AB47-4D78E6D48822}" destId="{D72EE235-1A44-44E5-BCFD-9ACBFE91D137}" srcOrd="9" destOrd="0" presId="urn:microsoft.com/office/officeart/2005/8/layout/lProcess3"/>
    <dgm:cxn modelId="{6EE87F6E-1ED9-4C7F-A030-1A994E8125A0}" type="presParOf" srcId="{E077511C-AE14-479A-AB47-4D78E6D48822}" destId="{4BA6DC40-C4E7-4A43-8834-D298AFB6225E}" srcOrd="10" destOrd="0" presId="urn:microsoft.com/office/officeart/2005/8/layout/lProcess3"/>
    <dgm:cxn modelId="{B7955C7F-CAEB-433A-999A-1183120A6E7C}" type="presParOf" srcId="{C263CE16-7EEF-491B-9404-02F10A383385}" destId="{EE88FAAA-941B-4933-9391-CD202F774517}" srcOrd="1" destOrd="0" presId="urn:microsoft.com/office/officeart/2005/8/layout/lProcess3"/>
    <dgm:cxn modelId="{BED3F86B-D5B8-4455-8004-2DACFE795FE8}" type="presParOf" srcId="{C263CE16-7EEF-491B-9404-02F10A383385}" destId="{1860C772-9D8F-4C11-B415-A109E85441D7}" srcOrd="2" destOrd="0" presId="urn:microsoft.com/office/officeart/2005/8/layout/lProcess3"/>
    <dgm:cxn modelId="{93E836A3-0B80-40E5-BCBD-F2836D3CB1ED}" type="presParOf" srcId="{1860C772-9D8F-4C11-B415-A109E85441D7}" destId="{A24AC7ED-7E9C-48B3-859A-7DE29580606C}" srcOrd="0" destOrd="0" presId="urn:microsoft.com/office/officeart/2005/8/layout/lProcess3"/>
    <dgm:cxn modelId="{D8B2A2FB-360C-4919-9B16-6FF0DA8F6A8D}" type="presParOf" srcId="{1860C772-9D8F-4C11-B415-A109E85441D7}" destId="{357CC29A-748B-4CE5-BA0D-7F4E6F438FB1}" srcOrd="1" destOrd="0" presId="urn:microsoft.com/office/officeart/2005/8/layout/lProcess3"/>
    <dgm:cxn modelId="{BAC5D211-3712-4F66-A40B-FB7812D3888A}" type="presParOf" srcId="{1860C772-9D8F-4C11-B415-A109E85441D7}" destId="{5300369B-4674-4C59-B752-DC537DBE4484}" srcOrd="2" destOrd="0" presId="urn:microsoft.com/office/officeart/2005/8/layout/lProcess3"/>
    <dgm:cxn modelId="{CBFB5635-3953-4D85-81A7-AB3C86C2B5E1}" type="presParOf" srcId="{1860C772-9D8F-4C11-B415-A109E85441D7}" destId="{5D76953B-0006-411A-8763-18F6E7F65A43}" srcOrd="3" destOrd="0" presId="urn:microsoft.com/office/officeart/2005/8/layout/lProcess3"/>
    <dgm:cxn modelId="{E641A05B-5EDE-49C8-8AAF-BC956855F834}" type="presParOf" srcId="{1860C772-9D8F-4C11-B415-A109E85441D7}" destId="{024A3CDA-6D64-47DD-A0A2-D5F593F22452}" srcOrd="4" destOrd="0" presId="urn:microsoft.com/office/officeart/2005/8/layout/lProcess3"/>
    <dgm:cxn modelId="{FD26DA5F-D05E-482F-AA6C-41C2986E2B49}" type="presParOf" srcId="{1860C772-9D8F-4C11-B415-A109E85441D7}" destId="{0848F623-A252-4ECB-A6AA-6EFD701948A1}" srcOrd="5" destOrd="0" presId="urn:microsoft.com/office/officeart/2005/8/layout/lProcess3"/>
    <dgm:cxn modelId="{F979F155-BE87-4DA3-9059-FE312D33B1CC}" type="presParOf" srcId="{1860C772-9D8F-4C11-B415-A109E85441D7}" destId="{BC298671-F925-4C69-A5AA-91356E6BD9C3}" srcOrd="6" destOrd="0" presId="urn:microsoft.com/office/officeart/2005/8/layout/lProcess3"/>
    <dgm:cxn modelId="{0201D863-865B-439A-B796-EC610A462924}" type="presParOf" srcId="{1860C772-9D8F-4C11-B415-A109E85441D7}" destId="{EEA268B7-40CC-47F2-A789-087D642329BB}" srcOrd="7" destOrd="0" presId="urn:microsoft.com/office/officeart/2005/8/layout/lProcess3"/>
    <dgm:cxn modelId="{88B2853C-15FD-41D9-A83B-BF41DBCF617B}" type="presParOf" srcId="{1860C772-9D8F-4C11-B415-A109E85441D7}" destId="{4718F21F-0416-45B5-9E17-FB000C975270}" srcOrd="8" destOrd="0" presId="urn:microsoft.com/office/officeart/2005/8/layout/lProcess3"/>
    <dgm:cxn modelId="{4F93D5F4-66E1-44D3-B056-2F94D0E70213}" type="presParOf" srcId="{C263CE16-7EEF-491B-9404-02F10A383385}" destId="{E4AC687E-E22F-47D5-860F-4FC4453323E6}" srcOrd="3" destOrd="0" presId="urn:microsoft.com/office/officeart/2005/8/layout/lProcess3"/>
    <dgm:cxn modelId="{09A7B4AC-0492-4755-92AA-1D066F437D95}" type="presParOf" srcId="{C263CE16-7EEF-491B-9404-02F10A383385}" destId="{48B4561D-9532-4E12-8C27-28056EF5A858}" srcOrd="4" destOrd="0" presId="urn:microsoft.com/office/officeart/2005/8/layout/lProcess3"/>
    <dgm:cxn modelId="{3AE6DDAC-6A51-499F-8112-4DEC56677CB1}" type="presParOf" srcId="{48B4561D-9532-4E12-8C27-28056EF5A858}" destId="{30D469AE-4C12-4C4D-8FB1-70EEAF33E9EF}" srcOrd="0" destOrd="0" presId="urn:microsoft.com/office/officeart/2005/8/layout/lProcess3"/>
    <dgm:cxn modelId="{A1D4A54F-5F59-479B-BDDA-F25162D1A642}" type="presParOf" srcId="{48B4561D-9532-4E12-8C27-28056EF5A858}" destId="{78495104-1179-41F8-A2F0-01E2A4C0F87F}" srcOrd="1" destOrd="0" presId="urn:microsoft.com/office/officeart/2005/8/layout/lProcess3"/>
    <dgm:cxn modelId="{244FF121-14CD-4395-A294-E93DC95E0BDA}" type="presParOf" srcId="{48B4561D-9532-4E12-8C27-28056EF5A858}" destId="{9A04A743-AC10-4D88-947E-986F825784FC}" srcOrd="2" destOrd="0" presId="urn:microsoft.com/office/officeart/2005/8/layout/lProcess3"/>
    <dgm:cxn modelId="{19560DC7-EC25-4997-8D48-1F6A3D257589}" type="presParOf" srcId="{48B4561D-9532-4E12-8C27-28056EF5A858}" destId="{EE71C824-8E63-4B71-846E-FD9071D8F864}" srcOrd="3" destOrd="0" presId="urn:microsoft.com/office/officeart/2005/8/layout/lProcess3"/>
    <dgm:cxn modelId="{23AB09E0-F482-4266-95DB-70C9B163CDD2}" type="presParOf" srcId="{48B4561D-9532-4E12-8C27-28056EF5A858}" destId="{F3FFFB61-5442-44AD-A7FE-40CBAB2550F7}" srcOrd="4" destOrd="0" presId="urn:microsoft.com/office/officeart/2005/8/layout/lProcess3"/>
    <dgm:cxn modelId="{A30A9EC6-E990-410B-8475-43A98AE152E2}" type="presParOf" srcId="{48B4561D-9532-4E12-8C27-28056EF5A858}" destId="{E2ACCE68-E03A-4EE4-9B67-AC1EEEE48AC5}" srcOrd="5" destOrd="0" presId="urn:microsoft.com/office/officeart/2005/8/layout/lProcess3"/>
    <dgm:cxn modelId="{54ACCA0B-86C7-4404-B61F-2F82CDC96D49}" type="presParOf" srcId="{48B4561D-9532-4E12-8C27-28056EF5A858}" destId="{B66E1313-E2F6-4796-AFB3-1BD7C70F37C9}" srcOrd="6" destOrd="0" presId="urn:microsoft.com/office/officeart/2005/8/layout/lProcess3"/>
    <dgm:cxn modelId="{836D446E-B2A8-4EEA-8AFE-414139FF086C}" type="presParOf" srcId="{48B4561D-9532-4E12-8C27-28056EF5A858}" destId="{980B6D05-C699-43A7-886C-FB77A1861C45}" srcOrd="7" destOrd="0" presId="urn:microsoft.com/office/officeart/2005/8/layout/lProcess3"/>
    <dgm:cxn modelId="{C353753C-C082-4FFD-91D6-A4923D05BFFC}" type="presParOf" srcId="{48B4561D-9532-4E12-8C27-28056EF5A858}" destId="{38A3C6F8-9E71-4370-8B37-F11117CB7203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9B391-8B4D-4BE3-87EB-0567BAD8BB68}">
      <dsp:nvSpPr>
        <dsp:cNvPr id="0" name=""/>
        <dsp:cNvSpPr/>
      </dsp:nvSpPr>
      <dsp:spPr>
        <a:xfrm>
          <a:off x="0" y="337557"/>
          <a:ext cx="1783953" cy="5959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Objective 1</a:t>
          </a:r>
        </a:p>
      </dsp:txBody>
      <dsp:txXfrm>
        <a:off x="297984" y="337557"/>
        <a:ext cx="1187985" cy="595968"/>
      </dsp:txXfrm>
    </dsp:sp>
    <dsp:sp modelId="{99D7FDCB-56FB-419A-9A55-2C696A70F057}">
      <dsp:nvSpPr>
        <dsp:cNvPr id="0" name=""/>
        <dsp:cNvSpPr/>
      </dsp:nvSpPr>
      <dsp:spPr>
        <a:xfrm>
          <a:off x="1545024" y="339406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Datasets Used</a:t>
          </a:r>
        </a:p>
      </dsp:txBody>
      <dsp:txXfrm>
        <a:off x="1841160" y="339406"/>
        <a:ext cx="888409" cy="592272"/>
      </dsp:txXfrm>
    </dsp:sp>
    <dsp:sp modelId="{0A931ED2-F233-44C3-A7B5-9A98FED6ACB8}">
      <dsp:nvSpPr>
        <dsp:cNvPr id="0" name=""/>
        <dsp:cNvSpPr/>
      </dsp:nvSpPr>
      <dsp:spPr>
        <a:xfrm>
          <a:off x="2818409" y="339406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Models Used</a:t>
          </a:r>
        </a:p>
      </dsp:txBody>
      <dsp:txXfrm>
        <a:off x="3114545" y="339406"/>
        <a:ext cx="888409" cy="592272"/>
      </dsp:txXfrm>
    </dsp:sp>
    <dsp:sp modelId="{307312C6-F771-4D4B-978A-02DC43264E3E}">
      <dsp:nvSpPr>
        <dsp:cNvPr id="0" name=""/>
        <dsp:cNvSpPr/>
      </dsp:nvSpPr>
      <dsp:spPr>
        <a:xfrm>
          <a:off x="4091795" y="339406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Testing Procedure</a:t>
          </a:r>
        </a:p>
      </dsp:txBody>
      <dsp:txXfrm>
        <a:off x="4387931" y="339406"/>
        <a:ext cx="888409" cy="592272"/>
      </dsp:txXfrm>
    </dsp:sp>
    <dsp:sp modelId="{5F6D545E-14A6-4215-B768-22FAC0A49283}">
      <dsp:nvSpPr>
        <dsp:cNvPr id="0" name=""/>
        <dsp:cNvSpPr/>
      </dsp:nvSpPr>
      <dsp:spPr>
        <a:xfrm>
          <a:off x="5365181" y="339406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Evaluation Strategy</a:t>
          </a:r>
        </a:p>
      </dsp:txBody>
      <dsp:txXfrm>
        <a:off x="5661317" y="339406"/>
        <a:ext cx="888409" cy="592272"/>
      </dsp:txXfrm>
    </dsp:sp>
    <dsp:sp modelId="{4BA6DC40-C4E7-4A43-8834-D298AFB6225E}">
      <dsp:nvSpPr>
        <dsp:cNvPr id="0" name=""/>
        <dsp:cNvSpPr/>
      </dsp:nvSpPr>
      <dsp:spPr>
        <a:xfrm>
          <a:off x="6638567" y="339406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Expected Outcome</a:t>
          </a:r>
        </a:p>
      </dsp:txBody>
      <dsp:txXfrm>
        <a:off x="6934703" y="339406"/>
        <a:ext cx="888409" cy="592272"/>
      </dsp:txXfrm>
    </dsp:sp>
    <dsp:sp modelId="{A24AC7ED-7E9C-48B3-859A-7DE29580606C}">
      <dsp:nvSpPr>
        <dsp:cNvPr id="0" name=""/>
        <dsp:cNvSpPr/>
      </dsp:nvSpPr>
      <dsp:spPr>
        <a:xfrm>
          <a:off x="16633" y="1692062"/>
          <a:ext cx="1783953" cy="60759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Objective 2</a:t>
          </a:r>
        </a:p>
      </dsp:txBody>
      <dsp:txXfrm>
        <a:off x="320430" y="1692062"/>
        <a:ext cx="1176360" cy="607593"/>
      </dsp:txXfrm>
    </dsp:sp>
    <dsp:sp modelId="{5300369B-4674-4C59-B752-DC537DBE4484}">
      <dsp:nvSpPr>
        <dsp:cNvPr id="0" name=""/>
        <dsp:cNvSpPr/>
      </dsp:nvSpPr>
      <dsp:spPr>
        <a:xfrm>
          <a:off x="1568672" y="1699719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Prompt engineering</a:t>
          </a:r>
        </a:p>
      </dsp:txBody>
      <dsp:txXfrm>
        <a:off x="1864808" y="1699719"/>
        <a:ext cx="888409" cy="592272"/>
      </dsp:txXfrm>
    </dsp:sp>
    <dsp:sp modelId="{024A3CDA-6D64-47DD-A0A2-D5F593F22452}">
      <dsp:nvSpPr>
        <dsp:cNvPr id="0" name=""/>
        <dsp:cNvSpPr/>
      </dsp:nvSpPr>
      <dsp:spPr>
        <a:xfrm>
          <a:off x="2842058" y="1699719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Fine-Tuning with Low-Rank Adaptation (LoRA)</a:t>
          </a:r>
        </a:p>
      </dsp:txBody>
      <dsp:txXfrm>
        <a:off x="3138194" y="1699719"/>
        <a:ext cx="888409" cy="592272"/>
      </dsp:txXfrm>
    </dsp:sp>
    <dsp:sp modelId="{BC298671-F925-4C69-A5AA-91356E6BD9C3}">
      <dsp:nvSpPr>
        <dsp:cNvPr id="0" name=""/>
        <dsp:cNvSpPr/>
      </dsp:nvSpPr>
      <dsp:spPr>
        <a:xfrm>
          <a:off x="4115443" y="1699719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Collecting Four Outputs per Test Prompt</a:t>
          </a:r>
        </a:p>
      </dsp:txBody>
      <dsp:txXfrm>
        <a:off x="4411579" y="1699719"/>
        <a:ext cx="888409" cy="592272"/>
      </dsp:txXfrm>
    </dsp:sp>
    <dsp:sp modelId="{4718F21F-0416-45B5-9E17-FB000C975270}">
      <dsp:nvSpPr>
        <dsp:cNvPr id="0" name=""/>
        <dsp:cNvSpPr/>
      </dsp:nvSpPr>
      <dsp:spPr>
        <a:xfrm>
          <a:off x="5388829" y="1699719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latin typeface="Aptos" panose="020B0004020202020204" pitchFamily="34" charset="0"/>
              <a:cs typeface="Times New Roman" panose="02020603050405020304" pitchFamily="18" charset="0"/>
            </a:rPr>
            <a:t>Evaluating the Improvements</a:t>
          </a:r>
          <a:endParaRPr lang="en-US" sz="900" b="1" kern="1200" dirty="0">
            <a:latin typeface="Aptos" panose="020B0004020202020204" pitchFamily="34" charset="0"/>
            <a:cs typeface="Times New Roman" panose="02020603050405020304" pitchFamily="18" charset="0"/>
          </a:endParaRPr>
        </a:p>
      </dsp:txBody>
      <dsp:txXfrm>
        <a:off x="5684965" y="1699719"/>
        <a:ext cx="888409" cy="592272"/>
      </dsp:txXfrm>
    </dsp:sp>
    <dsp:sp modelId="{30D469AE-4C12-4C4D-8FB1-70EEAF33E9EF}">
      <dsp:nvSpPr>
        <dsp:cNvPr id="0" name=""/>
        <dsp:cNvSpPr/>
      </dsp:nvSpPr>
      <dsp:spPr>
        <a:xfrm>
          <a:off x="868" y="3112524"/>
          <a:ext cx="1783953" cy="5969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Objective 3</a:t>
          </a:r>
        </a:p>
      </dsp:txBody>
      <dsp:txXfrm>
        <a:off x="299359" y="3112524"/>
        <a:ext cx="1186971" cy="596982"/>
      </dsp:txXfrm>
    </dsp:sp>
    <dsp:sp modelId="{9A04A743-AC10-4D88-947E-986F825784FC}">
      <dsp:nvSpPr>
        <dsp:cNvPr id="0" name=""/>
        <dsp:cNvSpPr/>
      </dsp:nvSpPr>
      <dsp:spPr>
        <a:xfrm>
          <a:off x="1552907" y="3114879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Managing Hardware Constraints</a:t>
          </a:r>
        </a:p>
      </dsp:txBody>
      <dsp:txXfrm>
        <a:off x="1849043" y="3114879"/>
        <a:ext cx="888409" cy="592272"/>
      </dsp:txXfrm>
    </dsp:sp>
    <dsp:sp modelId="{F3FFFB61-5442-44AD-A7FE-40CBAB2550F7}">
      <dsp:nvSpPr>
        <dsp:cNvPr id="0" name=""/>
        <dsp:cNvSpPr/>
      </dsp:nvSpPr>
      <dsp:spPr>
        <a:xfrm>
          <a:off x="2826293" y="3114879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Three Workflows Under Evaluation</a:t>
          </a:r>
        </a:p>
      </dsp:txBody>
      <dsp:txXfrm>
        <a:off x="3122429" y="3114879"/>
        <a:ext cx="888409" cy="592272"/>
      </dsp:txXfrm>
    </dsp:sp>
    <dsp:sp modelId="{B66E1313-E2F6-4796-AFB3-1BD7C70F37C9}">
      <dsp:nvSpPr>
        <dsp:cNvPr id="0" name=""/>
        <dsp:cNvSpPr/>
      </dsp:nvSpPr>
      <dsp:spPr>
        <a:xfrm>
          <a:off x="4099679" y="3114879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latin typeface="Aptos" panose="020B0004020202020204" pitchFamily="34" charset="0"/>
              <a:cs typeface="Times New Roman" panose="02020603050405020304" pitchFamily="18" charset="0"/>
            </a:rPr>
            <a:t>Evaluating Story Quality and Efficiency</a:t>
          </a:r>
          <a:endParaRPr lang="en-US" sz="900" b="1" kern="1200" dirty="0">
            <a:latin typeface="Aptos" panose="020B0004020202020204" pitchFamily="34" charset="0"/>
            <a:cs typeface="Times New Roman" panose="02020603050405020304" pitchFamily="18" charset="0"/>
          </a:endParaRPr>
        </a:p>
      </dsp:txBody>
      <dsp:txXfrm>
        <a:off x="4395815" y="3114879"/>
        <a:ext cx="888409" cy="592272"/>
      </dsp:txXfrm>
    </dsp:sp>
    <dsp:sp modelId="{38A3C6F8-9E71-4370-8B37-F11117CB7203}">
      <dsp:nvSpPr>
        <dsp:cNvPr id="0" name=""/>
        <dsp:cNvSpPr/>
      </dsp:nvSpPr>
      <dsp:spPr>
        <a:xfrm>
          <a:off x="5373064" y="3114879"/>
          <a:ext cx="1480681" cy="59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 panose="020B0004020202020204" pitchFamily="34" charset="0"/>
              <a:cs typeface="Times New Roman" panose="02020603050405020304" pitchFamily="18" charset="0"/>
            </a:rPr>
            <a:t>Final Selection and Recommendation</a:t>
          </a:r>
        </a:p>
      </dsp:txBody>
      <dsp:txXfrm>
        <a:off x="5669200" y="3114879"/>
        <a:ext cx="888409" cy="5922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9071" tIns="49536" rIns="99071" bIns="4953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9071" tIns="49536" rIns="99071" bIns="49536" rtlCol="0"/>
          <a:lstStyle>
            <a:lvl1pPr algn="r">
              <a:defRPr sz="1300"/>
            </a:lvl1pPr>
          </a:lstStyle>
          <a:p>
            <a:fld id="{148FA3BA-99F3-4D53-832D-EAC23FD9BEB5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1" tIns="49536" rIns="99071" bIns="4953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1" tIns="49536" rIns="99071" bIns="4953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71" tIns="49536" rIns="99071" bIns="4953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71" tIns="49536" rIns="99071" bIns="49536" rtlCol="0" anchor="b"/>
          <a:lstStyle>
            <a:lvl1pPr algn="r">
              <a:defRPr sz="1300"/>
            </a:lvl1pPr>
          </a:lstStyle>
          <a:p>
            <a:fld id="{CFB8E0F4-67A8-426B-B699-F8BFA0D06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59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39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458F0-E4DF-E3B6-262A-F4DFEA5F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18852-FE41-C5E7-2061-C8419997C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C6A08-C147-2B22-3896-57CBC2F3D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890DE-5205-1560-EAFE-B4FF6D35E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57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91479-64DE-FE5D-F9F1-A4BEF6D6C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F0D34-2FDB-C26D-AB73-3C4B431B3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A77A2-9509-96D2-434A-80DCB2C58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993D6-6826-5423-429D-1BD7EE937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6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1A6CC-B231-16CE-159A-E9735D056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6B7BB-BE03-1D2F-75C4-6A7CAB8B3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5667D-6FE5-A609-AFCF-8FB35D787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29A76-0D67-8928-AEEE-B156F3E3B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9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6BBB-3CB0-2612-3192-BFF28D4C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D9FD9-C72C-E24B-2C6D-8B48F840E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77AF3-4156-159E-5547-C56864C04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B8F91-F944-6833-6C56-5DA49414A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92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0B7EC-B7F3-BBA9-4178-05D9B6AB8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9B82C-C4F9-D616-A4D5-B376322C3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784D7-AB6E-B2BC-43A1-2A76A0D6E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DF994-5581-655C-7F60-8149AAB91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90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31136-139A-A03A-A3B6-C096BB51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35048-FFDB-0D7C-99F5-1169DA7B6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6ED9E-0E80-F2E6-D7A5-26BAF9644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1A1D6-A85B-7027-55AA-A9029F933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05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635F6-3C5F-29D3-2594-33CFC225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5ABD0-D8DC-A877-5E9B-DA5CEA5B8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543FB-157C-17DE-3D93-456F8A89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5D7AF-305F-A09C-F50E-74B5CF9F3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8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7EFC4-F95B-0706-BEE0-2FA04E9D6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0078E-038D-A845-9A69-BCC5E0CC3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9159A-AE6C-27AB-852A-D0726F2EF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D9FE6-A20A-29F6-2F5C-4A0C298E0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12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1CBE6-F9C0-8D34-AF8C-28B2E457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C5778-CCD0-5532-65A0-06AB5C2DE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04F64-84F4-4763-70DF-AEA4327E1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FCEDF-BFEF-4B30-F76D-BD4F8F6A2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96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C547-CBE0-A3BE-D105-56C8439A6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C61A2-3737-457C-8204-7E32D272A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1D0A2-6D35-C745-E4DF-5B40B6C8B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0318B-C6D7-D11D-96DE-E7CF2B373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4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91301-1244-0A08-EC5C-D7059BEC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8AB26-B602-A1B8-B5AA-3A8FEB34E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1DB2F-3A05-3DA3-3149-A586CDAE1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223C7-B82D-202D-8426-0F9E31C09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88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3E957-B969-E0A6-F0C0-109CEB0A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4398F-FB6C-2DCA-487F-5054C86D7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62D4B-0B49-50C1-D0D5-CC3DE7169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41F37-D34D-42DF-7D78-55F1C65E9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927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B7466-5369-B5E5-C4D1-940B19C6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EDEC7-AB42-B4E1-5888-EEA690BA4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AC09A-DA0A-F736-8E23-C3BB7C053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BEF49-688B-1976-CBD7-BDB1AADBF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12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03A2C-7885-4BEF-8DC3-C512E1955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7AB56-FD9B-7BA9-0445-E8B7416A0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08340-505F-3788-08E6-AACDD6403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751AC-C9C5-A60C-A650-AAC0C659A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68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D520F-59F2-D773-F15F-1C857741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7411B-7B67-3842-6952-88C2298C6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4D559-E9E2-2CE7-6559-FFD3FE411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D748D-A48B-D584-B063-C8CAA8794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34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3D820-A541-D107-A5AA-594C3624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87660-C081-B5FF-F9B9-9F1F31228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2BABF-66A8-92E4-FA38-C3AFC4D0A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9E956-CF76-8CB3-A871-828F740FF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8E0F4-67A8-426B-B699-F8BFA0D062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81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7F42-F465-E31E-C772-2326FC90D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06AD6-D26D-4394-A05C-B7AC383C2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B70C0-403A-3780-6BCE-E0CE9B3B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1BF44-A7D1-CB57-57FA-C16252C70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4F020-7FA8-BFB3-084A-1CB30411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8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238C8-0EC7-DBD8-EDEC-61DF9AFDC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C532D-51D9-A555-3E1A-99CF55D08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F3F04-C0AA-0D58-8275-BB453CC2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6E332-F9EC-F3F5-4B8D-DD6043BE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7CEB9-6BA0-A337-6BFB-F034465D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1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68C5D-D438-86FE-100F-08210DFB9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CB6E9-DA11-6B11-C104-9CB52AE41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5238A-C3BE-BD59-7D11-7F4D9DF6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DED07-8845-3833-D8FF-69319D38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3E04B-A199-31A6-738B-B70E93F7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14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0A066-5C22-B91F-CB56-F2516B068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1D87F-C932-3DFB-BD7F-F71DBF849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5BE29-5B82-35C0-D0C5-D32DFCB74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AB617-B134-9DB0-4BD0-FCD65D9B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B2F7F-7F4B-2115-174B-8C7C2028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C1B52-A673-039C-6DB5-A67364A9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3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678D-20A6-FAF4-D11D-442A2F34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D98A0-3BEE-6498-8485-0D66A4A58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28D8F-4CE5-0E18-875A-43DF4356B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E94DC-4714-6DF0-6F18-E826BA6C7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4E818-A529-2AF5-B96B-7A45D0193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7C99D-4891-751B-7390-F7CA731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807744-8CF1-A46D-1011-F7EB18F3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498E87-8A40-2155-99BA-DAC975BF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6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23AE-E4D3-1669-6B78-F7ABC60C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58F9D-4A72-F2D3-F3FE-935329DBB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83C02-490F-AD77-7895-13A9E73E5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C5793-47F0-9270-4A16-558EEA960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1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FF2404-BAB5-7BD4-302A-C94B0689F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BDF41B-1136-9BB8-ABA9-869F3F20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C462D-9290-9DF1-FE54-0E883311C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6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4564C-C2DE-B30E-5475-D46239E5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17718-0302-1E96-FD44-98FCF929D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39511-2A23-37AE-1042-52A8CD48C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D829A-FB3F-DEBC-1D7A-AAC59BAFB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3B1A3-98D7-7BFA-5897-71CC079E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7833A-AFD8-BF2B-8FAB-D162D29B9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0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39C3-0A67-50E9-8E7E-B4DB4046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9CE4DE-D0A6-1EDB-53AC-BC244F673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0621F-0F7A-05A8-1F6A-35C03E253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1AFCB-F47A-C028-3FE9-7473E371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FAEBE-9FCC-FD72-D568-46DCE8E02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683EB-C2FE-B8F7-909C-F03F5E22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9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F38A2-5E42-DF31-E9C8-59D42389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F65DF-F8E0-E3AF-B979-AC92D0ADD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3EFD3-EDBE-3FCB-C897-7926134DA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D3FA5-EF51-BA6D-231C-03AD9E70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B3509-6204-90AD-F14C-9E7DFAA5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6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0A17F4-C88E-F40D-78C5-04AF2DFF9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19063-164F-D276-C8B5-25497B8F6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01DC4-66D0-FD16-0A91-5D3BA0D2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629E5-CA4E-921C-94F6-1D4F1DF5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90A3-76FF-D31A-E523-A5B1FAEB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70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79DE1B-FBB2-15F8-5659-43066875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B71B2-D856-717A-8E7F-1ED11B9D5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85252-3724-256E-EFC8-2A76AE751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6D0DC-B567-490E-ADC1-C7723A9111E2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574C6-D99D-4A36-BF53-DF0320456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1C23D-4A73-E746-0ACC-8AB2B1664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D1AF-1A7A-47CB-B8CD-8DAD249A2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67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4.png"/><Relationship Id="rId10" Type="http://schemas.microsoft.com/office/2007/relationships/diagramDrawing" Target="../diagrams/drawing1.xml"/><Relationship Id="rId4" Type="http://schemas.microsoft.com/office/2007/relationships/hdphoto" Target="../media/hdphoto1.wdp"/><Relationship Id="rId9" Type="http://schemas.openxmlformats.org/officeDocument/2006/relationships/diagramColors" Target="../diagrams/colors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image" Target="../media/image1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AF676-7409-CFEF-085D-3CBF81266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5F7A-DAB1-220E-22AE-156EB409B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691" y="134072"/>
            <a:ext cx="10381673" cy="23876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FFFF00"/>
                </a:solidFill>
                <a:latin typeface="Aptos" panose="020B0004020202020204" pitchFamily="34" charset="0"/>
              </a:rPr>
              <a:t>A COMPARATIVE STUDY ON NARRATIVE GENERATION WITH ROBUST STORYTELLING CAPABILITIES VIA PRE-TRAINED LANGUAGE MODELS WITH PROMPT ENGINEERING &amp; LoRA FINE-TUNING</a:t>
            </a:r>
            <a:br>
              <a:rPr lang="en-US" sz="2800" b="1" dirty="0">
                <a:solidFill>
                  <a:srgbClr val="FFFF00"/>
                </a:solidFill>
                <a:latin typeface="Aptos" panose="020B0004020202020204" pitchFamily="34" charset="0"/>
              </a:rPr>
            </a:br>
            <a:endParaRPr lang="en-US" sz="28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88CB5-6761-4BF2-7A22-4A27A278F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996" y="3347181"/>
            <a:ext cx="9144000" cy="1655762"/>
          </a:xfrm>
        </p:spPr>
        <p:txBody>
          <a:bodyPr>
            <a:noAutofit/>
          </a:bodyPr>
          <a:lstStyle/>
          <a:p>
            <a:pPr algn="l"/>
            <a:r>
              <a:rPr lang="en-US" b="1" cap="small" dirty="0">
                <a:solidFill>
                  <a:srgbClr val="FFFF00"/>
                </a:solidFill>
                <a:latin typeface="Aptos" panose="020B0004020202020204" pitchFamily="34" charset="0"/>
              </a:rPr>
              <a:t>MOHAMMED AAMER </a:t>
            </a:r>
            <a:br>
              <a:rPr lang="en-US" sz="2000" b="1" cap="small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2000" b="1" cap="small" dirty="0">
                <a:solidFill>
                  <a:schemeClr val="bg1"/>
                </a:solidFill>
                <a:latin typeface="Aptos" panose="020B0004020202020204" pitchFamily="34" charset="0"/>
              </a:rPr>
              <a:t>(</a:t>
            </a: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Student </a:t>
            </a:r>
            <a:r>
              <a:rPr lang="en-US" sz="2000" b="1" cap="small" dirty="0">
                <a:solidFill>
                  <a:schemeClr val="bg1"/>
                </a:solidFill>
                <a:latin typeface="Aptos" panose="020B0004020202020204" pitchFamily="34" charset="0"/>
              </a:rPr>
              <a:t>ID: PN1130101)</a:t>
            </a:r>
            <a:br>
              <a:rPr lang="en-US" sz="2000" b="1" cap="small" dirty="0">
                <a:solidFill>
                  <a:schemeClr val="bg1"/>
                </a:solidFill>
                <a:latin typeface="Aptos" panose="020B0004020202020204" pitchFamily="34" charset="0"/>
              </a:rPr>
            </a:br>
            <a:br>
              <a:rPr lang="en-US" sz="2000" b="1" cap="small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b="1" cap="small" dirty="0">
                <a:solidFill>
                  <a:srgbClr val="FFFF00"/>
                </a:solidFill>
                <a:latin typeface="Aptos" panose="020B0004020202020204" pitchFamily="34" charset="0"/>
              </a:rPr>
              <a:t>FINAL THESIS PRESENTATION</a:t>
            </a:r>
            <a:b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Master of Science in Data Science, LJMU</a:t>
            </a:r>
            <a:b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b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August 2025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Conector recto 10">
            <a:extLst>
              <a:ext uri="{FF2B5EF4-FFF2-40B4-BE49-F238E27FC236}">
                <a16:creationId xmlns:a16="http://schemas.microsoft.com/office/drawing/2014/main" id="{497D0F71-2D55-A1F2-1DDF-FD4731B77F25}"/>
              </a:ext>
            </a:extLst>
          </p:cNvPr>
          <p:cNvCxnSpPr>
            <a:cxnSpLocks/>
          </p:cNvCxnSpPr>
          <p:nvPr/>
        </p:nvCxnSpPr>
        <p:spPr>
          <a:xfrm flipV="1">
            <a:off x="542063" y="3309430"/>
            <a:ext cx="0" cy="219525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15407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9F79F75B-F9B7-2DB9-4528-60CDCF82EBEA}"/>
              </a:ext>
            </a:extLst>
          </p:cNvPr>
          <p:cNvGrpSpPr/>
          <p:nvPr/>
        </p:nvGrpSpPr>
        <p:grpSpPr>
          <a:xfrm>
            <a:off x="10101072" y="0"/>
            <a:ext cx="2090928" cy="6858000"/>
            <a:chOff x="10101072" y="0"/>
            <a:chExt cx="2090928" cy="685800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240F298-381C-74E1-69B7-D6138A758365}"/>
                </a:ext>
              </a:extLst>
            </p:cNvPr>
            <p:cNvGrpSpPr/>
            <p:nvPr/>
          </p:nvGrpSpPr>
          <p:grpSpPr>
            <a:xfrm>
              <a:off x="10101072" y="0"/>
              <a:ext cx="2090928" cy="6858000"/>
              <a:chOff x="10101072" y="0"/>
              <a:chExt cx="2090928" cy="68580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9AFAE01-4967-D8CE-2744-388674C09D6F}"/>
                  </a:ext>
                </a:extLst>
              </p:cNvPr>
              <p:cNvSpPr/>
              <p:nvPr/>
            </p:nvSpPr>
            <p:spPr>
              <a:xfrm>
                <a:off x="10101072" y="0"/>
                <a:ext cx="2090928" cy="6858000"/>
              </a:xfrm>
              <a:prstGeom prst="rect">
                <a:avLst/>
              </a:prstGeom>
              <a:solidFill>
                <a:srgbClr val="355EA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latin typeface="Aptos" panose="020B0004020202020204" pitchFamily="34" charset="0"/>
                  </a:rPr>
                  <a:t>Conclusion &amp; Future Recommendations 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FB167E-3971-569E-0671-81CCC9ABBE7B}"/>
                  </a:ext>
                </a:extLst>
              </p:cNvPr>
              <p:cNvSpPr txBox="1"/>
              <p:nvPr/>
            </p:nvSpPr>
            <p:spPr>
              <a:xfrm>
                <a:off x="10683430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6</a:t>
                </a:r>
              </a:p>
            </p:txBody>
          </p:sp>
          <p:cxnSp>
            <p:nvCxnSpPr>
              <p:cNvPr id="44" name="Conector recto 10">
                <a:extLst>
                  <a:ext uri="{FF2B5EF4-FFF2-40B4-BE49-F238E27FC236}">
                    <a16:creationId xmlns:a16="http://schemas.microsoft.com/office/drawing/2014/main" id="{2D20F688-E282-9E72-8460-0D9581ED4A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3430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4845FE9D-1A53-E70F-F1BB-D129D8638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53857" y="4244401"/>
              <a:ext cx="1287848" cy="1287848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29F9268-7373-646B-F361-F21728CEF009}"/>
              </a:ext>
            </a:extLst>
          </p:cNvPr>
          <p:cNvGrpSpPr/>
          <p:nvPr/>
        </p:nvGrpSpPr>
        <p:grpSpPr>
          <a:xfrm>
            <a:off x="8083296" y="0"/>
            <a:ext cx="2458593" cy="6858000"/>
            <a:chOff x="8083296" y="0"/>
            <a:chExt cx="2458593" cy="685800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BB81DD4-0903-9271-C771-1EC2B08490D2}"/>
                </a:ext>
              </a:extLst>
            </p:cNvPr>
            <p:cNvGrpSpPr/>
            <p:nvPr/>
          </p:nvGrpSpPr>
          <p:grpSpPr>
            <a:xfrm>
              <a:off x="8083296" y="0"/>
              <a:ext cx="2458593" cy="6858000"/>
              <a:chOff x="8083296" y="0"/>
              <a:chExt cx="2458593" cy="685800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E2109B6-7B3B-EC73-32B2-964C0FDA0CC2}"/>
                  </a:ext>
                </a:extLst>
              </p:cNvPr>
              <p:cNvGrpSpPr/>
              <p:nvPr/>
            </p:nvGrpSpPr>
            <p:grpSpPr>
              <a:xfrm>
                <a:off x="8083296" y="0"/>
                <a:ext cx="2458593" cy="6858000"/>
                <a:chOff x="8083296" y="0"/>
                <a:chExt cx="2458593" cy="6858000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17D2534-6A29-C9DE-DCBC-364CCF33A5E6}"/>
                    </a:ext>
                  </a:extLst>
                </p:cNvPr>
                <p:cNvSpPr/>
                <p:nvPr/>
              </p:nvSpPr>
              <p:spPr>
                <a:xfrm>
                  <a:off x="8083296" y="0"/>
                  <a:ext cx="2029968" cy="6858000"/>
                </a:xfrm>
                <a:prstGeom prst="rect">
                  <a:avLst/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700" b="1" dirty="0">
                      <a:latin typeface="Aptos" panose="020B0004020202020204" pitchFamily="34" charset="0"/>
                    </a:rPr>
                    <a:t>Results &amp; Discussion </a:t>
                  </a:r>
                </a:p>
              </p:txBody>
            </p:sp>
            <p:sp>
              <p:nvSpPr>
                <p:cNvPr id="18" name="Isosceles Triangle 17">
                  <a:extLst>
                    <a:ext uri="{FF2B5EF4-FFF2-40B4-BE49-F238E27FC236}">
                      <a16:creationId xmlns:a16="http://schemas.microsoft.com/office/drawing/2014/main" id="{D1610067-83E0-1AF6-2EC1-8FD334163766}"/>
                    </a:ext>
                  </a:extLst>
                </p:cNvPr>
                <p:cNvSpPr/>
                <p:nvPr/>
              </p:nvSpPr>
              <p:spPr>
                <a:xfrm rot="5400000">
                  <a:off x="9905238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36DAC2C-4B91-C980-17FE-01B5C375D207}"/>
                  </a:ext>
                </a:extLst>
              </p:cNvPr>
              <p:cNvSpPr txBox="1"/>
              <p:nvPr/>
            </p:nvSpPr>
            <p:spPr>
              <a:xfrm>
                <a:off x="8677846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5</a:t>
                </a:r>
              </a:p>
            </p:txBody>
          </p:sp>
          <p:cxnSp>
            <p:nvCxnSpPr>
              <p:cNvPr id="43" name="Conector recto 10">
                <a:extLst>
                  <a:ext uri="{FF2B5EF4-FFF2-40B4-BE49-F238E27FC236}">
                    <a16:creationId xmlns:a16="http://schemas.microsoft.com/office/drawing/2014/main" id="{B477DA98-0198-5AF7-6A41-073C87FB92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6305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499ED318-79C6-FD2A-C100-4791450D0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714" y="4068733"/>
              <a:ext cx="1334131" cy="1334131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BB7662D-323C-B502-528E-B2498066A72F}"/>
              </a:ext>
            </a:extLst>
          </p:cNvPr>
          <p:cNvGrpSpPr/>
          <p:nvPr/>
        </p:nvGrpSpPr>
        <p:grpSpPr>
          <a:xfrm>
            <a:off x="6065520" y="0"/>
            <a:ext cx="2470785" cy="6858000"/>
            <a:chOff x="6065520" y="0"/>
            <a:chExt cx="2470785" cy="685800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CB32716-BE41-7122-EB12-C40B4597D963}"/>
                </a:ext>
              </a:extLst>
            </p:cNvPr>
            <p:cNvGrpSpPr/>
            <p:nvPr/>
          </p:nvGrpSpPr>
          <p:grpSpPr>
            <a:xfrm>
              <a:off x="6065520" y="0"/>
              <a:ext cx="2470785" cy="6858000"/>
              <a:chOff x="6065520" y="0"/>
              <a:chExt cx="2470785" cy="6858000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BDA74D0-86CA-6EF4-740C-355671C57DC1}"/>
                  </a:ext>
                </a:extLst>
              </p:cNvPr>
              <p:cNvGrpSpPr/>
              <p:nvPr/>
            </p:nvGrpSpPr>
            <p:grpSpPr>
              <a:xfrm>
                <a:off x="6065520" y="0"/>
                <a:ext cx="2470785" cy="6858000"/>
                <a:chOff x="6065520" y="0"/>
                <a:chExt cx="2470785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A22CD0E-13DE-5A50-3F6A-5C9ADA0BAF98}"/>
                    </a:ext>
                  </a:extLst>
                </p:cNvPr>
                <p:cNvSpPr/>
                <p:nvPr/>
              </p:nvSpPr>
              <p:spPr>
                <a:xfrm>
                  <a:off x="6065520" y="0"/>
                  <a:ext cx="2029968" cy="6858000"/>
                </a:xfrm>
                <a:prstGeom prst="rect">
                  <a:avLst/>
                </a:prstGeom>
                <a:solidFill>
                  <a:srgbClr val="25427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700" b="1" dirty="0">
                      <a:latin typeface="Aptos" panose="020B0004020202020204" pitchFamily="34" charset="0"/>
                    </a:rPr>
                    <a:t>Research Methodology</a:t>
                  </a:r>
                  <a:r>
                    <a:rPr lang="en-US" b="1" dirty="0">
                      <a:latin typeface="Aptos" panose="020B0004020202020204" pitchFamily="34" charset="0"/>
                    </a:rPr>
                    <a:t> </a:t>
                  </a:r>
                </a:p>
              </p:txBody>
            </p:sp>
            <p:sp>
              <p:nvSpPr>
                <p:cNvPr id="17" name="Isosceles Triangle 16">
                  <a:extLst>
                    <a:ext uri="{FF2B5EF4-FFF2-40B4-BE49-F238E27FC236}">
                      <a16:creationId xmlns:a16="http://schemas.microsoft.com/office/drawing/2014/main" id="{3865F317-41E6-87BF-AA28-E1A867BCADE8}"/>
                    </a:ext>
                  </a:extLst>
                </p:cNvPr>
                <p:cNvSpPr/>
                <p:nvPr/>
              </p:nvSpPr>
              <p:spPr>
                <a:xfrm rot="5400000">
                  <a:off x="7899654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5427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78BB743-7872-9A6C-5A6D-F787FB0ECB2E}"/>
                  </a:ext>
                </a:extLst>
              </p:cNvPr>
              <p:cNvSpPr txBox="1"/>
              <p:nvPr/>
            </p:nvSpPr>
            <p:spPr>
              <a:xfrm>
                <a:off x="6660070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4</a:t>
                </a:r>
              </a:p>
            </p:txBody>
          </p:sp>
          <p:cxnSp>
            <p:nvCxnSpPr>
              <p:cNvPr id="42" name="Conector recto 10">
                <a:extLst>
                  <a:ext uri="{FF2B5EF4-FFF2-40B4-BE49-F238E27FC236}">
                    <a16:creationId xmlns:a16="http://schemas.microsoft.com/office/drawing/2014/main" id="{F7299C82-B338-2A80-6977-BFA0497A33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1321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8E77B00-08FC-52BC-3D28-503FCFC83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22" y="4082869"/>
              <a:ext cx="1482999" cy="1482999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219071C-80BE-72AC-5DEB-9F21BEA87EA8}"/>
              </a:ext>
            </a:extLst>
          </p:cNvPr>
          <p:cNvGrpSpPr/>
          <p:nvPr/>
        </p:nvGrpSpPr>
        <p:grpSpPr>
          <a:xfrm>
            <a:off x="4047744" y="0"/>
            <a:ext cx="2419350" cy="6858000"/>
            <a:chOff x="4047744" y="0"/>
            <a:chExt cx="2419350" cy="685800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60D001E-29D0-BF24-5913-3FB3011CF3AE}"/>
                </a:ext>
              </a:extLst>
            </p:cNvPr>
            <p:cNvGrpSpPr/>
            <p:nvPr/>
          </p:nvGrpSpPr>
          <p:grpSpPr>
            <a:xfrm>
              <a:off x="4047744" y="0"/>
              <a:ext cx="2419350" cy="6858000"/>
              <a:chOff x="4047744" y="0"/>
              <a:chExt cx="241935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7B88839-6DC7-1881-DAA6-53D7E58EF59C}"/>
                  </a:ext>
                </a:extLst>
              </p:cNvPr>
              <p:cNvGrpSpPr/>
              <p:nvPr/>
            </p:nvGrpSpPr>
            <p:grpSpPr>
              <a:xfrm>
                <a:off x="4047744" y="0"/>
                <a:ext cx="2419350" cy="6858000"/>
                <a:chOff x="4047744" y="0"/>
                <a:chExt cx="2419350" cy="6858000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FA13ACB-DBF1-4EDA-23F9-12443FD9974F}"/>
                    </a:ext>
                  </a:extLst>
                </p:cNvPr>
                <p:cNvSpPr/>
                <p:nvPr/>
              </p:nvSpPr>
              <p:spPr>
                <a:xfrm>
                  <a:off x="4047744" y="0"/>
                  <a:ext cx="2029968" cy="6858000"/>
                </a:xfrm>
                <a:prstGeom prst="rect">
                  <a:avLst/>
                </a:prstGeom>
                <a:solidFill>
                  <a:srgbClr val="1D34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700" b="1" dirty="0">
                      <a:latin typeface="Aptos" panose="020B0004020202020204" pitchFamily="34" charset="0"/>
                    </a:rPr>
                    <a:t>Literature Review</a:t>
                  </a:r>
                </a:p>
              </p:txBody>
            </p:sp>
            <p:sp>
              <p:nvSpPr>
                <p:cNvPr id="16" name="Isosceles Triangle 15">
                  <a:extLst>
                    <a:ext uri="{FF2B5EF4-FFF2-40B4-BE49-F238E27FC236}">
                      <a16:creationId xmlns:a16="http://schemas.microsoft.com/office/drawing/2014/main" id="{49DE07D6-12FD-40AC-EA89-2E24B935BB72}"/>
                    </a:ext>
                  </a:extLst>
                </p:cNvPr>
                <p:cNvSpPr/>
                <p:nvPr/>
              </p:nvSpPr>
              <p:spPr>
                <a:xfrm rot="5400000">
                  <a:off x="5830443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1D34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CCB450-7A93-0682-45BB-FA47DFB8E2B8}"/>
                  </a:ext>
                </a:extLst>
              </p:cNvPr>
              <p:cNvSpPr txBox="1"/>
              <p:nvPr/>
            </p:nvSpPr>
            <p:spPr>
              <a:xfrm>
                <a:off x="4686014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3</a:t>
                </a:r>
              </a:p>
            </p:txBody>
          </p:sp>
          <p:cxnSp>
            <p:nvCxnSpPr>
              <p:cNvPr id="41" name="Conector recto 10">
                <a:extLst>
                  <a:ext uri="{FF2B5EF4-FFF2-40B4-BE49-F238E27FC236}">
                    <a16:creationId xmlns:a16="http://schemas.microsoft.com/office/drawing/2014/main" id="{04E2CE1E-0CAB-67FC-887F-F5A435F157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96946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5A26EE0B-5D3C-3BDA-5AEC-FD4820F84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1211" y="4171035"/>
              <a:ext cx="1394836" cy="1394836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F667C0B-493C-E89C-6F64-591419A6099F}"/>
              </a:ext>
            </a:extLst>
          </p:cNvPr>
          <p:cNvGrpSpPr/>
          <p:nvPr/>
        </p:nvGrpSpPr>
        <p:grpSpPr>
          <a:xfrm>
            <a:off x="2017775" y="0"/>
            <a:ext cx="2468119" cy="6858000"/>
            <a:chOff x="2017775" y="0"/>
            <a:chExt cx="2468119" cy="68580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0DB66AC-0DF0-989B-DE7C-85EEC69BBE0F}"/>
                </a:ext>
              </a:extLst>
            </p:cNvPr>
            <p:cNvGrpSpPr/>
            <p:nvPr/>
          </p:nvGrpSpPr>
          <p:grpSpPr>
            <a:xfrm>
              <a:off x="2029968" y="0"/>
              <a:ext cx="2455926" cy="6858000"/>
              <a:chOff x="2029968" y="0"/>
              <a:chExt cx="2455926" cy="685800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2A85134-FD4C-737D-27A5-5F40D5ACA2FE}"/>
                  </a:ext>
                </a:extLst>
              </p:cNvPr>
              <p:cNvGrpSpPr/>
              <p:nvPr/>
            </p:nvGrpSpPr>
            <p:grpSpPr>
              <a:xfrm>
                <a:off x="2029968" y="0"/>
                <a:ext cx="2455926" cy="6858000"/>
                <a:chOff x="2029968" y="0"/>
                <a:chExt cx="2455926" cy="6858000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E1F27CE7-0DEC-B5BD-4ACF-ABC836FACA54}"/>
                    </a:ext>
                  </a:extLst>
                </p:cNvPr>
                <p:cNvSpPr/>
                <p:nvPr/>
              </p:nvSpPr>
              <p:spPr>
                <a:xfrm>
                  <a:off x="2029968" y="0"/>
                  <a:ext cx="2029968" cy="6858000"/>
                </a:xfrm>
                <a:prstGeom prst="rect">
                  <a:avLst/>
                </a:prstGeom>
                <a:solidFill>
                  <a:srgbClr val="12203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700" b="1" dirty="0">
                      <a:latin typeface="Aptos" panose="020B0004020202020204" pitchFamily="34" charset="0"/>
                    </a:rPr>
                    <a:t>Aim &amp; Objectives</a:t>
                  </a:r>
                </a:p>
              </p:txBody>
            </p:sp>
            <p:sp>
              <p:nvSpPr>
                <p:cNvPr id="19" name="Isosceles Triangle 18">
                  <a:extLst>
                    <a:ext uri="{FF2B5EF4-FFF2-40B4-BE49-F238E27FC236}">
                      <a16:creationId xmlns:a16="http://schemas.microsoft.com/office/drawing/2014/main" id="{930B37D8-614A-004C-49CE-30EE154F9E71}"/>
                    </a:ext>
                  </a:extLst>
                </p:cNvPr>
                <p:cNvSpPr/>
                <p:nvPr/>
              </p:nvSpPr>
              <p:spPr>
                <a:xfrm rot="5400000">
                  <a:off x="3849243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12203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205E62-B0AB-CC96-065D-2FAF5C63EDB2}"/>
                  </a:ext>
                </a:extLst>
              </p:cNvPr>
              <p:cNvSpPr txBox="1"/>
              <p:nvPr/>
            </p:nvSpPr>
            <p:spPr>
              <a:xfrm>
                <a:off x="2675049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2</a:t>
                </a:r>
              </a:p>
            </p:txBody>
          </p:sp>
          <p:cxnSp>
            <p:nvCxnSpPr>
              <p:cNvPr id="40" name="Conector recto 10">
                <a:extLst>
                  <a:ext uri="{FF2B5EF4-FFF2-40B4-BE49-F238E27FC236}">
                    <a16:creationId xmlns:a16="http://schemas.microsoft.com/office/drawing/2014/main" id="{A8594491-E34D-6545-319D-E4F8AEE9B4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3650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6425B49C-5710-CBA2-5780-C915BCCC1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7775" y="3684238"/>
              <a:ext cx="2103123" cy="2103123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E8514B0-1D03-7E91-B40D-623B406BA548}"/>
              </a:ext>
            </a:extLst>
          </p:cNvPr>
          <p:cNvGrpSpPr/>
          <p:nvPr/>
        </p:nvGrpSpPr>
        <p:grpSpPr>
          <a:xfrm>
            <a:off x="0" y="0"/>
            <a:ext cx="2480310" cy="6858000"/>
            <a:chOff x="0" y="0"/>
            <a:chExt cx="2480310" cy="685800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FBEEFA3-FAC3-2481-3C56-BDB557BDC43A}"/>
                </a:ext>
              </a:extLst>
            </p:cNvPr>
            <p:cNvGrpSpPr/>
            <p:nvPr/>
          </p:nvGrpSpPr>
          <p:grpSpPr>
            <a:xfrm>
              <a:off x="0" y="0"/>
              <a:ext cx="2480310" cy="6858000"/>
              <a:chOff x="0" y="0"/>
              <a:chExt cx="2480310" cy="6858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7268AF8-C7AD-81B0-FEA4-474B17E8FA34}"/>
                  </a:ext>
                </a:extLst>
              </p:cNvPr>
              <p:cNvGrpSpPr/>
              <p:nvPr/>
            </p:nvGrpSpPr>
            <p:grpSpPr>
              <a:xfrm>
                <a:off x="0" y="0"/>
                <a:ext cx="2480310" cy="6858000"/>
                <a:chOff x="0" y="0"/>
                <a:chExt cx="2480310" cy="6858000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D91BF6C8-6C14-E786-4631-CCF68B78B6F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029968" cy="6858000"/>
                </a:xfrm>
                <a:prstGeom prst="rect">
                  <a:avLst/>
                </a:prstGeom>
                <a:solidFill>
                  <a:srgbClr val="0E192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700" b="1" dirty="0">
                      <a:latin typeface="Aptos" panose="020B0004020202020204" pitchFamily="34" charset="0"/>
                    </a:rPr>
                    <a:t>Introduction</a:t>
                  </a:r>
                </a:p>
              </p:txBody>
            </p:sp>
            <p:sp>
              <p:nvSpPr>
                <p:cNvPr id="15" name="Isosceles Triangle 14">
                  <a:extLst>
                    <a:ext uri="{FF2B5EF4-FFF2-40B4-BE49-F238E27FC236}">
                      <a16:creationId xmlns:a16="http://schemas.microsoft.com/office/drawing/2014/main" id="{F0922B07-AE50-B910-2873-BDA1EE7A0925}"/>
                    </a:ext>
                  </a:extLst>
                </p:cNvPr>
                <p:cNvSpPr/>
                <p:nvPr/>
              </p:nvSpPr>
              <p:spPr>
                <a:xfrm rot="5400000">
                  <a:off x="1843659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0E192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681ABC-1ECD-8E18-81D7-C8A3E75DC312}"/>
                  </a:ext>
                </a:extLst>
              </p:cNvPr>
              <p:cNvSpPr txBox="1"/>
              <p:nvPr/>
            </p:nvSpPr>
            <p:spPr>
              <a:xfrm>
                <a:off x="645081" y="105918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1</a:t>
                </a:r>
              </a:p>
            </p:txBody>
          </p:sp>
          <p:cxnSp>
            <p:nvCxnSpPr>
              <p:cNvPr id="33" name="Conector recto 10">
                <a:extLst>
                  <a:ext uri="{FF2B5EF4-FFF2-40B4-BE49-F238E27FC236}">
                    <a16:creationId xmlns:a16="http://schemas.microsoft.com/office/drawing/2014/main" id="{8CFB4232-92D7-C152-6B82-9D87B8A341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596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8CDE02F-50C8-7B1E-67E4-4EBD2A65D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371" y="3996210"/>
              <a:ext cx="1569661" cy="15696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816649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759AF-EC82-887E-1D29-A0D9F976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BD162257-02FB-FCBB-3E07-AAD970D377C9}"/>
              </a:ext>
            </a:extLst>
          </p:cNvPr>
          <p:cNvGrpSpPr/>
          <p:nvPr/>
        </p:nvGrpSpPr>
        <p:grpSpPr>
          <a:xfrm>
            <a:off x="0" y="0"/>
            <a:ext cx="2480310" cy="6858000"/>
            <a:chOff x="0" y="0"/>
            <a:chExt cx="2480310" cy="685800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59091B0-A4C8-AABF-7428-719E3B5A8F1B}"/>
                </a:ext>
              </a:extLst>
            </p:cNvPr>
            <p:cNvGrpSpPr/>
            <p:nvPr/>
          </p:nvGrpSpPr>
          <p:grpSpPr>
            <a:xfrm>
              <a:off x="0" y="0"/>
              <a:ext cx="2480310" cy="6858000"/>
              <a:chOff x="0" y="0"/>
              <a:chExt cx="2480310" cy="6858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99E7C0F-BA28-D197-B39E-710BC4FDD31C}"/>
                  </a:ext>
                </a:extLst>
              </p:cNvPr>
              <p:cNvGrpSpPr/>
              <p:nvPr/>
            </p:nvGrpSpPr>
            <p:grpSpPr>
              <a:xfrm>
                <a:off x="0" y="0"/>
                <a:ext cx="2480310" cy="6858000"/>
                <a:chOff x="0" y="0"/>
                <a:chExt cx="2480310" cy="6858000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469AF44-D5AD-575C-01AC-AFF089BA2F7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029968" cy="6858000"/>
                </a:xfrm>
                <a:prstGeom prst="rect">
                  <a:avLst/>
                </a:prstGeom>
                <a:solidFill>
                  <a:srgbClr val="0E192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5" name="Isosceles Triangle 14">
                  <a:extLst>
                    <a:ext uri="{FF2B5EF4-FFF2-40B4-BE49-F238E27FC236}">
                      <a16:creationId xmlns:a16="http://schemas.microsoft.com/office/drawing/2014/main" id="{68E5DD72-5FCB-A35F-E3E7-15EA9B4D7F3E}"/>
                    </a:ext>
                  </a:extLst>
                </p:cNvPr>
                <p:cNvSpPr/>
                <p:nvPr/>
              </p:nvSpPr>
              <p:spPr>
                <a:xfrm rot="5400000">
                  <a:off x="1843659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0E192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49E0489-BDD8-D096-845D-ADCEC3D9B1AD}"/>
                  </a:ext>
                </a:extLst>
              </p:cNvPr>
              <p:cNvSpPr txBox="1"/>
              <p:nvPr/>
            </p:nvSpPr>
            <p:spPr>
              <a:xfrm>
                <a:off x="645081" y="105918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1</a:t>
                </a:r>
              </a:p>
            </p:txBody>
          </p:sp>
          <p:cxnSp>
            <p:nvCxnSpPr>
              <p:cNvPr id="33" name="Conector recto 10">
                <a:extLst>
                  <a:ext uri="{FF2B5EF4-FFF2-40B4-BE49-F238E27FC236}">
                    <a16:creationId xmlns:a16="http://schemas.microsoft.com/office/drawing/2014/main" id="{A827108C-E9D0-A390-C8B2-18861FEA8F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596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025D3ED-E43E-63F4-FF5A-93424DD80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371" y="3996210"/>
              <a:ext cx="1569661" cy="156966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A5C33F-991D-F666-75E2-0D4D8F9175C8}"/>
              </a:ext>
            </a:extLst>
          </p:cNvPr>
          <p:cNvSpPr txBox="1"/>
          <p:nvPr/>
        </p:nvSpPr>
        <p:spPr>
          <a:xfrm>
            <a:off x="2982477" y="1409700"/>
            <a:ext cx="7267903" cy="420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Urdu remains underrepresented in modern AI and NLP research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Existing models underperform in fluency, idiomatic usage, and cultural depth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High-performance training often requires costly infrastructure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Need for efficient, practical solutions for narrative generation in Urdu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Goal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Enable quality Urdu storytelling using practical, low-resource tools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663E09-7004-A510-030A-8B538D2FC9E9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0937776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0970EA-91C8-C585-25FD-D198A8EE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CB7A20-D382-31BB-2036-F2EFB700D84E}"/>
              </a:ext>
            </a:extLst>
          </p:cNvPr>
          <p:cNvSpPr txBox="1"/>
          <p:nvPr/>
        </p:nvSpPr>
        <p:spPr>
          <a:xfrm>
            <a:off x="2982477" y="1462208"/>
            <a:ext cx="7267903" cy="97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Develop an accessible approach for generating high-quality Urdu narratives under hardware limitations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B301DB3-8EA1-11DF-D33F-C3E00BD7B8F3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AIM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AAD6735-C6EF-D75C-255D-175304976A50}"/>
              </a:ext>
            </a:extLst>
          </p:cNvPr>
          <p:cNvGrpSpPr/>
          <p:nvPr/>
        </p:nvGrpSpPr>
        <p:grpSpPr>
          <a:xfrm>
            <a:off x="0" y="0"/>
            <a:ext cx="2468119" cy="6858000"/>
            <a:chOff x="2017775" y="0"/>
            <a:chExt cx="2468119" cy="68580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EDF7A39-527A-C5E6-E1C2-4ACDFA0A9C59}"/>
                </a:ext>
              </a:extLst>
            </p:cNvPr>
            <p:cNvGrpSpPr/>
            <p:nvPr/>
          </p:nvGrpSpPr>
          <p:grpSpPr>
            <a:xfrm>
              <a:off x="2029968" y="0"/>
              <a:ext cx="2455926" cy="6858000"/>
              <a:chOff x="2029968" y="0"/>
              <a:chExt cx="2455926" cy="685800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F172FAC-D8F6-B1A4-AB71-6B4228E1BED1}"/>
                  </a:ext>
                </a:extLst>
              </p:cNvPr>
              <p:cNvGrpSpPr/>
              <p:nvPr/>
            </p:nvGrpSpPr>
            <p:grpSpPr>
              <a:xfrm>
                <a:off x="2029968" y="0"/>
                <a:ext cx="2455926" cy="6858000"/>
                <a:chOff x="2029968" y="0"/>
                <a:chExt cx="2455926" cy="6858000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6A18FFA-FC10-ED38-AD75-AC3AB4FC88E1}"/>
                    </a:ext>
                  </a:extLst>
                </p:cNvPr>
                <p:cNvSpPr/>
                <p:nvPr/>
              </p:nvSpPr>
              <p:spPr>
                <a:xfrm>
                  <a:off x="2029968" y="0"/>
                  <a:ext cx="2029968" cy="6858000"/>
                </a:xfrm>
                <a:prstGeom prst="rect">
                  <a:avLst/>
                </a:prstGeom>
                <a:solidFill>
                  <a:srgbClr val="12203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9" name="Isosceles Triangle 18">
                  <a:extLst>
                    <a:ext uri="{FF2B5EF4-FFF2-40B4-BE49-F238E27FC236}">
                      <a16:creationId xmlns:a16="http://schemas.microsoft.com/office/drawing/2014/main" id="{33268930-4A5D-FBFE-1565-4B0B199924DA}"/>
                    </a:ext>
                  </a:extLst>
                </p:cNvPr>
                <p:cNvSpPr/>
                <p:nvPr/>
              </p:nvSpPr>
              <p:spPr>
                <a:xfrm rot="5400000">
                  <a:off x="3849243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12203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4C6CDCB-5AF6-B1B5-82F5-7CC7C6F7B6F8}"/>
                  </a:ext>
                </a:extLst>
              </p:cNvPr>
              <p:cNvSpPr txBox="1"/>
              <p:nvPr/>
            </p:nvSpPr>
            <p:spPr>
              <a:xfrm>
                <a:off x="2675049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2</a:t>
                </a:r>
              </a:p>
            </p:txBody>
          </p:sp>
          <p:cxnSp>
            <p:nvCxnSpPr>
              <p:cNvPr id="40" name="Conector recto 10">
                <a:extLst>
                  <a:ext uri="{FF2B5EF4-FFF2-40B4-BE49-F238E27FC236}">
                    <a16:creationId xmlns:a16="http://schemas.microsoft.com/office/drawing/2014/main" id="{61BF0320-6BE5-3C7B-7723-3EBB10B064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3650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93752D50-F1BE-4E49-50D0-96FC9E5B7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7775" y="3684238"/>
              <a:ext cx="2103123" cy="2103123"/>
            </a:xfrm>
            <a:prstGeom prst="rect">
              <a:avLst/>
            </a:prstGeom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23622B16-F6A6-0AA0-FC65-1734F7565034}"/>
              </a:ext>
            </a:extLst>
          </p:cNvPr>
          <p:cNvSpPr txBox="1">
            <a:spLocks/>
          </p:cNvSpPr>
          <p:nvPr/>
        </p:nvSpPr>
        <p:spPr>
          <a:xfrm>
            <a:off x="2982476" y="2501024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40126-0366-AF6E-9274-826F7936E4A1}"/>
              </a:ext>
            </a:extLst>
          </p:cNvPr>
          <p:cNvSpPr txBox="1"/>
          <p:nvPr/>
        </p:nvSpPr>
        <p:spPr>
          <a:xfrm>
            <a:off x="2982476" y="3429000"/>
            <a:ext cx="7267903" cy="281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Compare multilingual (mT5) and Urdu-specific (GPT-2 Urdu) models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Apply </a:t>
            </a:r>
            <a:r>
              <a:rPr lang="en-US" altLang="en-US" sz="2000">
                <a:solidFill>
                  <a:schemeClr val="bg1"/>
                </a:solidFill>
                <a:latin typeface="Aptos" panose="020B0004020202020204" pitchFamily="34" charset="0"/>
              </a:rPr>
              <a:t>lightweight tuning: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prompt engineering and LoRA fine-tuning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Assess trade-offs between output quality and resource usage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98202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76B745-14AE-F34F-6E99-527809FD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DDD382-12BB-9518-7B72-AAB18468C1D3}"/>
              </a:ext>
            </a:extLst>
          </p:cNvPr>
          <p:cNvSpPr txBox="1"/>
          <p:nvPr/>
        </p:nvSpPr>
        <p:spPr>
          <a:xfrm>
            <a:off x="2982477" y="1462208"/>
            <a:ext cx="8739185" cy="5126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Urdu is underrepresented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in NLP despite 70M+ speakers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Multilingual models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(mT5, GPT-4, Aya) offer generalization but lack cultural fluency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Urdu-specific models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(GPT-2 Urdu, urT5, </a:t>
            </a:r>
            <a:r>
              <a:rPr lang="en-US" alt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UrduLLaMA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) deliver better idiomatic and narrative quality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Full fine-tuning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offers high performance but demands large compute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LoRA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enables </a:t>
            </a: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efficient fine-tuning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with limited hardware (ideal for </a:t>
            </a:r>
            <a:r>
              <a:rPr lang="en-US" alt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Colab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Prompt engineering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(zero/few-shot, role-based, </a:t>
            </a:r>
            <a:r>
              <a:rPr lang="en-US" alt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CoT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) is effective for zero-shot Urdu generation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Gap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No prior comparative study of prompt engineering vs fine-tuning for Urdu storytelling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6BEA8C-98AA-8A4E-E0D7-D24BBE83D8C3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LITERATURE REVIEW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3BC2EFA-7180-C406-7C9F-D3EC53CED4A0}"/>
              </a:ext>
            </a:extLst>
          </p:cNvPr>
          <p:cNvGrpSpPr/>
          <p:nvPr/>
        </p:nvGrpSpPr>
        <p:grpSpPr>
          <a:xfrm>
            <a:off x="0" y="0"/>
            <a:ext cx="2419350" cy="6858000"/>
            <a:chOff x="4047744" y="0"/>
            <a:chExt cx="2419350" cy="685800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4B99318-8328-F521-A73C-7A653830E184}"/>
                </a:ext>
              </a:extLst>
            </p:cNvPr>
            <p:cNvGrpSpPr/>
            <p:nvPr/>
          </p:nvGrpSpPr>
          <p:grpSpPr>
            <a:xfrm>
              <a:off x="4047744" y="0"/>
              <a:ext cx="2419350" cy="6858000"/>
              <a:chOff x="4047744" y="0"/>
              <a:chExt cx="241935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0F64EC5-B381-0CB4-26F7-D812D481BAB7}"/>
                  </a:ext>
                </a:extLst>
              </p:cNvPr>
              <p:cNvGrpSpPr/>
              <p:nvPr/>
            </p:nvGrpSpPr>
            <p:grpSpPr>
              <a:xfrm>
                <a:off x="4047744" y="0"/>
                <a:ext cx="2419350" cy="6858000"/>
                <a:chOff x="4047744" y="0"/>
                <a:chExt cx="2419350" cy="6858000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1AE5AC20-49CA-5AAD-2C28-15C059CA4487}"/>
                    </a:ext>
                  </a:extLst>
                </p:cNvPr>
                <p:cNvSpPr/>
                <p:nvPr/>
              </p:nvSpPr>
              <p:spPr>
                <a:xfrm>
                  <a:off x="4047744" y="0"/>
                  <a:ext cx="2029968" cy="6858000"/>
                </a:xfrm>
                <a:prstGeom prst="rect">
                  <a:avLst/>
                </a:prstGeom>
                <a:solidFill>
                  <a:srgbClr val="1D34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6" name="Isosceles Triangle 15">
                  <a:extLst>
                    <a:ext uri="{FF2B5EF4-FFF2-40B4-BE49-F238E27FC236}">
                      <a16:creationId xmlns:a16="http://schemas.microsoft.com/office/drawing/2014/main" id="{2E2575C7-2288-F70D-FA19-C3A4BAFBDDA1}"/>
                    </a:ext>
                  </a:extLst>
                </p:cNvPr>
                <p:cNvSpPr/>
                <p:nvPr/>
              </p:nvSpPr>
              <p:spPr>
                <a:xfrm rot="5400000">
                  <a:off x="5830443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1D34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B5228B-2DA4-521A-866D-C6D1648DF3E1}"/>
                  </a:ext>
                </a:extLst>
              </p:cNvPr>
              <p:cNvSpPr txBox="1"/>
              <p:nvPr/>
            </p:nvSpPr>
            <p:spPr>
              <a:xfrm>
                <a:off x="4686014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3</a:t>
                </a:r>
              </a:p>
            </p:txBody>
          </p:sp>
          <p:cxnSp>
            <p:nvCxnSpPr>
              <p:cNvPr id="41" name="Conector recto 10">
                <a:extLst>
                  <a:ext uri="{FF2B5EF4-FFF2-40B4-BE49-F238E27FC236}">
                    <a16:creationId xmlns:a16="http://schemas.microsoft.com/office/drawing/2014/main" id="{566323AD-F1CF-6BD7-68A2-FAD5E5030B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96946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05048388-7860-F55A-33E9-CD693FE39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1211" y="4171035"/>
              <a:ext cx="1394836" cy="13948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3289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E0CB7-7CBF-9DFC-E266-87A1B2EC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9F0B23-8251-1212-7E50-B681F4E2C13B}"/>
              </a:ext>
            </a:extLst>
          </p:cNvPr>
          <p:cNvSpPr txBox="1"/>
          <p:nvPr/>
        </p:nvSpPr>
        <p:spPr>
          <a:xfrm>
            <a:off x="2982477" y="1512193"/>
            <a:ext cx="8614973" cy="3833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Three Objectives</a:t>
            </a:r>
            <a:endParaRPr lang="en-US" sz="2400" dirty="0">
              <a:solidFill>
                <a:srgbClr val="FFFF00"/>
              </a:solidFill>
              <a:latin typeface="Aptos" panose="020B00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Performance comparison of base mT5 &amp; GPT-2 Urdu models</a:t>
            </a:r>
            <a:b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b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Enhance output quality with prompt engineering &amp; LoRA fine-tuning</a:t>
            </a:r>
            <a:b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b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Assess quality vs compute trade-offs (GPU, time, energy)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1BB99B3-566E-D3EB-0D68-F2B0CEBB3E7B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RESEARCH METHODOLOGY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67BFE7B-602A-02B1-6957-3BC5F420210F}"/>
              </a:ext>
            </a:extLst>
          </p:cNvPr>
          <p:cNvGrpSpPr/>
          <p:nvPr/>
        </p:nvGrpSpPr>
        <p:grpSpPr>
          <a:xfrm>
            <a:off x="0" y="0"/>
            <a:ext cx="2470785" cy="6858000"/>
            <a:chOff x="6065520" y="0"/>
            <a:chExt cx="2470785" cy="685800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544E362-C185-2085-715E-8A9111AC1FD4}"/>
                </a:ext>
              </a:extLst>
            </p:cNvPr>
            <p:cNvGrpSpPr/>
            <p:nvPr/>
          </p:nvGrpSpPr>
          <p:grpSpPr>
            <a:xfrm>
              <a:off x="6065520" y="0"/>
              <a:ext cx="2470785" cy="6858000"/>
              <a:chOff x="6065520" y="0"/>
              <a:chExt cx="2470785" cy="6858000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8002F2A-9EBF-D0E2-CC1F-F3C5736A0FBD}"/>
                  </a:ext>
                </a:extLst>
              </p:cNvPr>
              <p:cNvGrpSpPr/>
              <p:nvPr/>
            </p:nvGrpSpPr>
            <p:grpSpPr>
              <a:xfrm>
                <a:off x="6065520" y="0"/>
                <a:ext cx="2470785" cy="6858000"/>
                <a:chOff x="6065520" y="0"/>
                <a:chExt cx="2470785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160C9D1-6CA0-054C-D139-372E8A8C1E38}"/>
                    </a:ext>
                  </a:extLst>
                </p:cNvPr>
                <p:cNvSpPr/>
                <p:nvPr/>
              </p:nvSpPr>
              <p:spPr>
                <a:xfrm>
                  <a:off x="6065520" y="0"/>
                  <a:ext cx="2029968" cy="6858000"/>
                </a:xfrm>
                <a:prstGeom prst="rect">
                  <a:avLst/>
                </a:prstGeom>
                <a:solidFill>
                  <a:srgbClr val="25427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latin typeface="Aptos" panose="020B0004020202020204" pitchFamily="34" charset="0"/>
                    </a:rPr>
                    <a:t> </a:t>
                  </a:r>
                </a:p>
              </p:txBody>
            </p:sp>
            <p:sp>
              <p:nvSpPr>
                <p:cNvPr id="17" name="Isosceles Triangle 16">
                  <a:extLst>
                    <a:ext uri="{FF2B5EF4-FFF2-40B4-BE49-F238E27FC236}">
                      <a16:creationId xmlns:a16="http://schemas.microsoft.com/office/drawing/2014/main" id="{6C95E915-A136-824E-349D-089ECFE9541F}"/>
                    </a:ext>
                  </a:extLst>
                </p:cNvPr>
                <p:cNvSpPr/>
                <p:nvPr/>
              </p:nvSpPr>
              <p:spPr>
                <a:xfrm rot="5400000">
                  <a:off x="7899654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5427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FD951B7-232F-34FE-D4F8-56FACC77B622}"/>
                  </a:ext>
                </a:extLst>
              </p:cNvPr>
              <p:cNvSpPr txBox="1"/>
              <p:nvPr/>
            </p:nvSpPr>
            <p:spPr>
              <a:xfrm>
                <a:off x="6660070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4</a:t>
                </a:r>
              </a:p>
            </p:txBody>
          </p:sp>
          <p:cxnSp>
            <p:nvCxnSpPr>
              <p:cNvPr id="42" name="Conector recto 10">
                <a:extLst>
                  <a:ext uri="{FF2B5EF4-FFF2-40B4-BE49-F238E27FC236}">
                    <a16:creationId xmlns:a16="http://schemas.microsoft.com/office/drawing/2014/main" id="{6A93F046-D621-0482-425D-652D6C589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1321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7F2880B-AA78-F9A8-31B5-DBF6602E2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22" y="4082869"/>
              <a:ext cx="1482999" cy="1482999"/>
            </a:xfrm>
            <a:prstGeom prst="rect">
              <a:avLst/>
            </a:prstGeom>
          </p:spPr>
        </p:pic>
      </p:grp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CFF2E7D-EEC0-9A2B-A66B-6AE6D04CC4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5627457"/>
              </p:ext>
            </p:extLst>
          </p:nvPr>
        </p:nvGraphicFramePr>
        <p:xfrm>
          <a:off x="3548199" y="242234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29253174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40D8C-B6FF-9761-0D12-70ACB8A58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FF35A-66CC-B410-BDA6-D66843BAE7A9}"/>
              </a:ext>
            </a:extLst>
          </p:cNvPr>
          <p:cNvSpPr txBox="1"/>
          <p:nvPr/>
        </p:nvSpPr>
        <p:spPr>
          <a:xfrm>
            <a:off x="2982477" y="1462208"/>
            <a:ext cx="8614973" cy="4664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Models</a:t>
            </a:r>
            <a:endParaRPr lang="en-US" altLang="en-US" sz="2000" dirty="0">
              <a:solidFill>
                <a:srgbClr val="FFFF00"/>
              </a:solidFill>
              <a:latin typeface="Aptos" panose="020B00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mT5-base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Multilingual, encoder-decoder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GPT-2 Urdu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Monolingual, decoder-only, Urdu-finetuned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1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Datasets (5)</a:t>
            </a:r>
            <a:endParaRPr lang="en-US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XL-Sum, OpenSubtitles, JW300, CCAligned, TED Talks Urdu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1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Tasks</a:t>
            </a:r>
            <a:endParaRPr lang="en-US" altLang="en-US" sz="2000" dirty="0">
              <a:solidFill>
                <a:srgbClr val="FFFF00"/>
              </a:solidFill>
              <a:latin typeface="Aptos" panose="020B00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Urdu summarization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Story continuation (150+ words)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48B206-CF44-A09C-A8C4-A806B247A279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RESEARCH METHODOLOGY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E81BC94-108D-A03B-721C-F2A90375C113}"/>
              </a:ext>
            </a:extLst>
          </p:cNvPr>
          <p:cNvGrpSpPr/>
          <p:nvPr/>
        </p:nvGrpSpPr>
        <p:grpSpPr>
          <a:xfrm>
            <a:off x="0" y="0"/>
            <a:ext cx="2470785" cy="6858000"/>
            <a:chOff x="6065520" y="0"/>
            <a:chExt cx="2470785" cy="685800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EFF819F-D198-F329-B8CF-003DC852D373}"/>
                </a:ext>
              </a:extLst>
            </p:cNvPr>
            <p:cNvGrpSpPr/>
            <p:nvPr/>
          </p:nvGrpSpPr>
          <p:grpSpPr>
            <a:xfrm>
              <a:off x="6065520" y="0"/>
              <a:ext cx="2470785" cy="6858000"/>
              <a:chOff x="6065520" y="0"/>
              <a:chExt cx="2470785" cy="6858000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0018821-4A33-279C-9C85-1BFDF7F44D2F}"/>
                  </a:ext>
                </a:extLst>
              </p:cNvPr>
              <p:cNvGrpSpPr/>
              <p:nvPr/>
            </p:nvGrpSpPr>
            <p:grpSpPr>
              <a:xfrm>
                <a:off x="6065520" y="0"/>
                <a:ext cx="2470785" cy="6858000"/>
                <a:chOff x="6065520" y="0"/>
                <a:chExt cx="2470785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7D35C23-F86D-B094-E416-73E9D8E063F3}"/>
                    </a:ext>
                  </a:extLst>
                </p:cNvPr>
                <p:cNvSpPr/>
                <p:nvPr/>
              </p:nvSpPr>
              <p:spPr>
                <a:xfrm>
                  <a:off x="6065520" y="0"/>
                  <a:ext cx="2029968" cy="6858000"/>
                </a:xfrm>
                <a:prstGeom prst="rect">
                  <a:avLst/>
                </a:prstGeom>
                <a:solidFill>
                  <a:srgbClr val="25427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latin typeface="Aptos" panose="020B0004020202020204" pitchFamily="34" charset="0"/>
                    </a:rPr>
                    <a:t> </a:t>
                  </a:r>
                </a:p>
              </p:txBody>
            </p:sp>
            <p:sp>
              <p:nvSpPr>
                <p:cNvPr id="17" name="Isosceles Triangle 16">
                  <a:extLst>
                    <a:ext uri="{FF2B5EF4-FFF2-40B4-BE49-F238E27FC236}">
                      <a16:creationId xmlns:a16="http://schemas.microsoft.com/office/drawing/2014/main" id="{BA7F7941-787D-5046-233C-E541C17774E0}"/>
                    </a:ext>
                  </a:extLst>
                </p:cNvPr>
                <p:cNvSpPr/>
                <p:nvPr/>
              </p:nvSpPr>
              <p:spPr>
                <a:xfrm rot="5400000">
                  <a:off x="7899654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5427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AA3107-4105-3017-989B-0B9A8780CCC1}"/>
                  </a:ext>
                </a:extLst>
              </p:cNvPr>
              <p:cNvSpPr txBox="1"/>
              <p:nvPr/>
            </p:nvSpPr>
            <p:spPr>
              <a:xfrm>
                <a:off x="6660070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4</a:t>
                </a:r>
              </a:p>
            </p:txBody>
          </p:sp>
          <p:cxnSp>
            <p:nvCxnSpPr>
              <p:cNvPr id="42" name="Conector recto 10">
                <a:extLst>
                  <a:ext uri="{FF2B5EF4-FFF2-40B4-BE49-F238E27FC236}">
                    <a16:creationId xmlns:a16="http://schemas.microsoft.com/office/drawing/2014/main" id="{991E861C-7F46-2428-8DA9-17B69F4282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1321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7355053A-D9EE-D62D-A028-7BD882AAE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22" y="4082869"/>
              <a:ext cx="1482999" cy="1482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600925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253BDF-ED67-F0F2-AA5C-F0BB87FF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DBF3B8-8FC2-A77F-EFCD-D8944DBC5750}"/>
              </a:ext>
            </a:extLst>
          </p:cNvPr>
          <p:cNvSpPr txBox="1"/>
          <p:nvPr/>
        </p:nvSpPr>
        <p:spPr>
          <a:xfrm>
            <a:off x="2982477" y="1462208"/>
            <a:ext cx="9101792" cy="544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Techniques</a:t>
            </a:r>
            <a:endParaRPr lang="en-US" altLang="en-US" sz="2000" dirty="0">
              <a:solidFill>
                <a:srgbClr val="FFFF00"/>
              </a:solidFill>
              <a:latin typeface="Aptos" panose="020B00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Prompt Engineering (4 types: keyword, role-based, outline, few-shot)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LoRA Fine-Tuning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1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Evaluation Metrics</a:t>
            </a:r>
            <a:endParaRPr lang="en-US" altLang="en-US" sz="2400" dirty="0">
              <a:solidFill>
                <a:srgbClr val="FFFF00"/>
              </a:solidFill>
              <a:latin typeface="Aptos" panose="020B00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ROUGE-L &amp; </a:t>
            </a:r>
            <a:r>
              <a:rPr lang="en-US" alt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BERTScore</a:t>
            </a:r>
            <a:endParaRPr lang="en-US" alt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Human review (fluency, coherence, creativity, cultural fit)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Hardware logs (memory, run time, energy)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1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Outcome</a:t>
            </a:r>
            <a:endParaRPr lang="en-US" alt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Identify the most effective model + enhancement combination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A76046-49E1-1C71-0E35-86E9BF18BB81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RESEARCH METHODOLOGY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8E4CD1A-4316-2A7F-BFDA-97726A4F0CE5}"/>
              </a:ext>
            </a:extLst>
          </p:cNvPr>
          <p:cNvGrpSpPr/>
          <p:nvPr/>
        </p:nvGrpSpPr>
        <p:grpSpPr>
          <a:xfrm>
            <a:off x="0" y="0"/>
            <a:ext cx="2470785" cy="6858000"/>
            <a:chOff x="6065520" y="0"/>
            <a:chExt cx="2470785" cy="685800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EC2BAA6-06F5-96E9-86FA-9F8E7B1664E6}"/>
                </a:ext>
              </a:extLst>
            </p:cNvPr>
            <p:cNvGrpSpPr/>
            <p:nvPr/>
          </p:nvGrpSpPr>
          <p:grpSpPr>
            <a:xfrm>
              <a:off x="6065520" y="0"/>
              <a:ext cx="2470785" cy="6858000"/>
              <a:chOff x="6065520" y="0"/>
              <a:chExt cx="2470785" cy="6858000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19D6E05-8D00-C31F-1EF4-2F3AE436C9E9}"/>
                  </a:ext>
                </a:extLst>
              </p:cNvPr>
              <p:cNvGrpSpPr/>
              <p:nvPr/>
            </p:nvGrpSpPr>
            <p:grpSpPr>
              <a:xfrm>
                <a:off x="6065520" y="0"/>
                <a:ext cx="2470785" cy="6858000"/>
                <a:chOff x="6065520" y="0"/>
                <a:chExt cx="2470785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C979D7C-A73B-797A-F035-07509102A386}"/>
                    </a:ext>
                  </a:extLst>
                </p:cNvPr>
                <p:cNvSpPr/>
                <p:nvPr/>
              </p:nvSpPr>
              <p:spPr>
                <a:xfrm>
                  <a:off x="6065520" y="0"/>
                  <a:ext cx="2029968" cy="6858000"/>
                </a:xfrm>
                <a:prstGeom prst="rect">
                  <a:avLst/>
                </a:prstGeom>
                <a:solidFill>
                  <a:srgbClr val="25427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latin typeface="Aptos" panose="020B0004020202020204" pitchFamily="34" charset="0"/>
                    </a:rPr>
                    <a:t> </a:t>
                  </a:r>
                </a:p>
              </p:txBody>
            </p:sp>
            <p:sp>
              <p:nvSpPr>
                <p:cNvPr id="17" name="Isosceles Triangle 16">
                  <a:extLst>
                    <a:ext uri="{FF2B5EF4-FFF2-40B4-BE49-F238E27FC236}">
                      <a16:creationId xmlns:a16="http://schemas.microsoft.com/office/drawing/2014/main" id="{0D76D002-193A-E358-0CFD-5CAB92251937}"/>
                    </a:ext>
                  </a:extLst>
                </p:cNvPr>
                <p:cNvSpPr/>
                <p:nvPr/>
              </p:nvSpPr>
              <p:spPr>
                <a:xfrm rot="5400000">
                  <a:off x="7899654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5427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2B0DA0F-13BB-DFA9-276B-81AAECF27A4C}"/>
                  </a:ext>
                </a:extLst>
              </p:cNvPr>
              <p:cNvSpPr txBox="1"/>
              <p:nvPr/>
            </p:nvSpPr>
            <p:spPr>
              <a:xfrm>
                <a:off x="6660070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4</a:t>
                </a:r>
              </a:p>
            </p:txBody>
          </p:sp>
          <p:cxnSp>
            <p:nvCxnSpPr>
              <p:cNvPr id="42" name="Conector recto 10">
                <a:extLst>
                  <a:ext uri="{FF2B5EF4-FFF2-40B4-BE49-F238E27FC236}">
                    <a16:creationId xmlns:a16="http://schemas.microsoft.com/office/drawing/2014/main" id="{263E79D4-370C-AF00-5717-CFEA4564E5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1321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5EBAA646-0AB4-462C-69A2-D18143D62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22" y="4082869"/>
              <a:ext cx="1482999" cy="1482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912597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57562-53C6-E09F-34BF-CD2AEC4B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2EFAAA-B2B1-B612-4456-9666A58CC54C}"/>
              </a:ext>
            </a:extLst>
          </p:cNvPr>
          <p:cNvSpPr txBox="1"/>
          <p:nvPr/>
        </p:nvSpPr>
        <p:spPr>
          <a:xfrm>
            <a:off x="2982477" y="1462208"/>
            <a:ext cx="7619834" cy="4664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Objective 1 – Baseline Model Comparison</a:t>
            </a:r>
          </a:p>
          <a:p>
            <a:pPr>
              <a:lnSpc>
                <a:spcPct val="150000"/>
              </a:lnSpc>
            </a:pPr>
            <a:endParaRPr lang="en-US" sz="11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Tasks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Summarization &amp; Story Continuation</a:t>
            </a:r>
            <a:b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Models Compared 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mT5-base vs GPT-2 Urdu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mT5 scored higher in summarization (ROUGE-L: 0.505,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BERTScore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: 0.887)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GPT-2 Urdu stronger in storytelling (Creativity: 8.2, Cultural Fit: 8.5)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mT5 is concise &amp; structured, but less idiomatic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GPT-2 Urdu is vivid, expressive, culturally rich stories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4856D4-9E82-A0E9-B47F-3696D6C4444E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RESULTS &amp; DISCUSSION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8E51C22-315E-E517-A5F4-4CBEA322203C}"/>
              </a:ext>
            </a:extLst>
          </p:cNvPr>
          <p:cNvGrpSpPr/>
          <p:nvPr/>
        </p:nvGrpSpPr>
        <p:grpSpPr>
          <a:xfrm>
            <a:off x="0" y="0"/>
            <a:ext cx="2458593" cy="6858000"/>
            <a:chOff x="8083296" y="0"/>
            <a:chExt cx="2458593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31327B-9803-A1C0-B83B-18FFE7CA7C32}"/>
                </a:ext>
              </a:extLst>
            </p:cNvPr>
            <p:cNvGrpSpPr/>
            <p:nvPr/>
          </p:nvGrpSpPr>
          <p:grpSpPr>
            <a:xfrm>
              <a:off x="8083296" y="0"/>
              <a:ext cx="2458593" cy="6858000"/>
              <a:chOff x="8083296" y="0"/>
              <a:chExt cx="2458593" cy="685800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B5CE2FA-F401-9A65-DAD8-3F98F3A586BA}"/>
                  </a:ext>
                </a:extLst>
              </p:cNvPr>
              <p:cNvGrpSpPr/>
              <p:nvPr/>
            </p:nvGrpSpPr>
            <p:grpSpPr>
              <a:xfrm>
                <a:off x="8083296" y="0"/>
                <a:ext cx="2458593" cy="6858000"/>
                <a:chOff x="8083296" y="0"/>
                <a:chExt cx="2458593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00BD09A-E5F9-3DE1-6CCA-07C8B9CC3258}"/>
                    </a:ext>
                  </a:extLst>
                </p:cNvPr>
                <p:cNvSpPr/>
                <p:nvPr/>
              </p:nvSpPr>
              <p:spPr>
                <a:xfrm>
                  <a:off x="8083296" y="0"/>
                  <a:ext cx="2029968" cy="6858000"/>
                </a:xfrm>
                <a:prstGeom prst="rect">
                  <a:avLst/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2" name="Isosceles Triangle 11">
                  <a:extLst>
                    <a:ext uri="{FF2B5EF4-FFF2-40B4-BE49-F238E27FC236}">
                      <a16:creationId xmlns:a16="http://schemas.microsoft.com/office/drawing/2014/main" id="{B4A6B7A8-D467-615D-3291-8C476B33C0B1}"/>
                    </a:ext>
                  </a:extLst>
                </p:cNvPr>
                <p:cNvSpPr/>
                <p:nvPr/>
              </p:nvSpPr>
              <p:spPr>
                <a:xfrm rot="5400000">
                  <a:off x="9905238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32708E-B8D2-2E34-E202-5385B2EE96C7}"/>
                  </a:ext>
                </a:extLst>
              </p:cNvPr>
              <p:cNvSpPr txBox="1"/>
              <p:nvPr/>
            </p:nvSpPr>
            <p:spPr>
              <a:xfrm>
                <a:off x="8677846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5</a:t>
                </a:r>
              </a:p>
            </p:txBody>
          </p:sp>
          <p:cxnSp>
            <p:nvCxnSpPr>
              <p:cNvPr id="10" name="Conector recto 10">
                <a:extLst>
                  <a:ext uri="{FF2B5EF4-FFF2-40B4-BE49-F238E27FC236}">
                    <a16:creationId xmlns:a16="http://schemas.microsoft.com/office/drawing/2014/main" id="{AE4ACC17-401C-75C3-F211-8FF62770A9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6305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41C8193-4F36-2BDC-B2C0-8FFD496F4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714" y="4068733"/>
              <a:ext cx="1334131" cy="13341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451030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48D92-C8B3-F852-3DD7-5E53E836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2DF4E22-E26C-92DD-B85C-FC5308EB9ECC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RESULTS &amp; DISCUSSION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F0C6B8-8E2B-4D2C-8EDA-2BE1A88076A4}"/>
              </a:ext>
            </a:extLst>
          </p:cNvPr>
          <p:cNvGrpSpPr/>
          <p:nvPr/>
        </p:nvGrpSpPr>
        <p:grpSpPr>
          <a:xfrm>
            <a:off x="0" y="0"/>
            <a:ext cx="2458593" cy="6858000"/>
            <a:chOff x="8083296" y="0"/>
            <a:chExt cx="2458593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0E39CC6-8265-DBAF-B6B6-581BC26D3FB0}"/>
                </a:ext>
              </a:extLst>
            </p:cNvPr>
            <p:cNvGrpSpPr/>
            <p:nvPr/>
          </p:nvGrpSpPr>
          <p:grpSpPr>
            <a:xfrm>
              <a:off x="8083296" y="0"/>
              <a:ext cx="2458593" cy="6858000"/>
              <a:chOff x="8083296" y="0"/>
              <a:chExt cx="2458593" cy="685800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778F36D-C2F5-4F35-E8F0-F3867A3A89C4}"/>
                  </a:ext>
                </a:extLst>
              </p:cNvPr>
              <p:cNvGrpSpPr/>
              <p:nvPr/>
            </p:nvGrpSpPr>
            <p:grpSpPr>
              <a:xfrm>
                <a:off x="8083296" y="0"/>
                <a:ext cx="2458593" cy="6858000"/>
                <a:chOff x="8083296" y="0"/>
                <a:chExt cx="2458593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F874319-A665-A247-3522-5A742549AD90}"/>
                    </a:ext>
                  </a:extLst>
                </p:cNvPr>
                <p:cNvSpPr/>
                <p:nvPr/>
              </p:nvSpPr>
              <p:spPr>
                <a:xfrm>
                  <a:off x="8083296" y="0"/>
                  <a:ext cx="2029968" cy="6858000"/>
                </a:xfrm>
                <a:prstGeom prst="rect">
                  <a:avLst/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2" name="Isosceles Triangle 11">
                  <a:extLst>
                    <a:ext uri="{FF2B5EF4-FFF2-40B4-BE49-F238E27FC236}">
                      <a16:creationId xmlns:a16="http://schemas.microsoft.com/office/drawing/2014/main" id="{3026F398-6397-8139-DF9B-FFC84F27BF19}"/>
                    </a:ext>
                  </a:extLst>
                </p:cNvPr>
                <p:cNvSpPr/>
                <p:nvPr/>
              </p:nvSpPr>
              <p:spPr>
                <a:xfrm rot="5400000">
                  <a:off x="9905238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2C366E-07C3-F890-6B75-79C2DE4F2BDA}"/>
                  </a:ext>
                </a:extLst>
              </p:cNvPr>
              <p:cNvSpPr txBox="1"/>
              <p:nvPr/>
            </p:nvSpPr>
            <p:spPr>
              <a:xfrm>
                <a:off x="8677846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5</a:t>
                </a:r>
              </a:p>
            </p:txBody>
          </p:sp>
          <p:cxnSp>
            <p:nvCxnSpPr>
              <p:cNvPr id="10" name="Conector recto 10">
                <a:extLst>
                  <a:ext uri="{FF2B5EF4-FFF2-40B4-BE49-F238E27FC236}">
                    <a16:creationId xmlns:a16="http://schemas.microsoft.com/office/drawing/2014/main" id="{01075518-2E48-38AF-D7F4-7E34EF10B0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6305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0A49487-7CA0-1FD2-3A1E-D1F35DFA7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714" y="4068733"/>
              <a:ext cx="1334131" cy="1334131"/>
            </a:xfrm>
            <a:prstGeom prst="rect">
              <a:avLst/>
            </a:prstGeom>
          </p:spPr>
        </p:pic>
      </p:grp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7515CE-1D35-A354-13E2-4F1870F5F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8770496"/>
              </p:ext>
            </p:extLst>
          </p:nvPr>
        </p:nvGraphicFramePr>
        <p:xfrm>
          <a:off x="2721218" y="2301426"/>
          <a:ext cx="4373183" cy="334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9F87CF8-06B4-6A1B-7BB1-96EF5926A9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0759154"/>
              </p:ext>
            </p:extLst>
          </p:nvPr>
        </p:nvGraphicFramePr>
        <p:xfrm>
          <a:off x="7365808" y="2301426"/>
          <a:ext cx="4373183" cy="334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A3116FA-6177-1B43-065C-CBCB0FE30349}"/>
              </a:ext>
            </a:extLst>
          </p:cNvPr>
          <p:cNvSpPr txBox="1"/>
          <p:nvPr/>
        </p:nvSpPr>
        <p:spPr>
          <a:xfrm>
            <a:off x="2938295" y="5782083"/>
            <a:ext cx="39390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Performance comparison for base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models on summarization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7706B1-69C3-D9EC-FC07-BFCFDC41F575}"/>
              </a:ext>
            </a:extLst>
          </p:cNvPr>
          <p:cNvSpPr txBox="1"/>
          <p:nvPr/>
        </p:nvSpPr>
        <p:spPr>
          <a:xfrm>
            <a:off x="7574421" y="5782083"/>
            <a:ext cx="39559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Human evaluation scores for base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models on story continuation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8F6A85-AD1C-8E50-ACA4-B444689F7D38}"/>
              </a:ext>
            </a:extLst>
          </p:cNvPr>
          <p:cNvSpPr txBox="1"/>
          <p:nvPr/>
        </p:nvSpPr>
        <p:spPr>
          <a:xfrm>
            <a:off x="2982477" y="1462208"/>
            <a:ext cx="7619834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Objective 1 – Baseline Model Comparison</a:t>
            </a:r>
          </a:p>
        </p:txBody>
      </p:sp>
      <p:cxnSp>
        <p:nvCxnSpPr>
          <p:cNvPr id="2" name="Conector recto 10">
            <a:extLst>
              <a:ext uri="{FF2B5EF4-FFF2-40B4-BE49-F238E27FC236}">
                <a16:creationId xmlns:a16="http://schemas.microsoft.com/office/drawing/2014/main" id="{6E4190FC-35FA-497A-0D69-E850C22970C9}"/>
              </a:ext>
            </a:extLst>
          </p:cNvPr>
          <p:cNvCxnSpPr>
            <a:cxnSpLocks/>
          </p:cNvCxnSpPr>
          <p:nvPr/>
        </p:nvCxnSpPr>
        <p:spPr>
          <a:xfrm>
            <a:off x="7228567" y="2301426"/>
            <a:ext cx="0" cy="331153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61801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107B1-5228-19EC-1619-64367A8B1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B5F945-5E60-5367-BD86-816977B1D11B}"/>
              </a:ext>
            </a:extLst>
          </p:cNvPr>
          <p:cNvSpPr txBox="1"/>
          <p:nvPr/>
        </p:nvSpPr>
        <p:spPr>
          <a:xfrm>
            <a:off x="2982477" y="1462208"/>
            <a:ext cx="7619834" cy="4895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Objective 2 – Prompting &amp; Fine-Tuning Impact</a:t>
            </a:r>
          </a:p>
          <a:p>
            <a:pPr>
              <a:lnSpc>
                <a:spcPct val="150000"/>
              </a:lnSpc>
            </a:pPr>
            <a:endParaRPr lang="en-US" sz="11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Techniques Tested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Prompt Engineering (4 styles)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LoRA Fine-Tuning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Combined Enhancement (Prompt + LoRA)</a:t>
            </a:r>
          </a:p>
          <a:p>
            <a:pPr lvl="1">
              <a:lnSpc>
                <a:spcPct val="150000"/>
              </a:lnSpc>
            </a:pPr>
            <a:endParaRPr lang="en-US" sz="11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Summarization Results (LoRA)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mT5-LoRA: ROUGE-L 0.541,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BERTScore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0.898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GPT-2-LoRA: ROUGE-L 0.507,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BERTScore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0.882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Both improved; mT5 maintained lead in summarization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14DE0D2-2A05-FFA5-2616-8E038B728541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RESULTS &amp; DISCUSSION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2E649A-0348-9023-5CC3-8CEF60D6FA57}"/>
              </a:ext>
            </a:extLst>
          </p:cNvPr>
          <p:cNvGrpSpPr/>
          <p:nvPr/>
        </p:nvGrpSpPr>
        <p:grpSpPr>
          <a:xfrm>
            <a:off x="0" y="0"/>
            <a:ext cx="2458593" cy="6858000"/>
            <a:chOff x="8083296" y="0"/>
            <a:chExt cx="2458593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6300B9D-5017-C208-087E-51F11FF75E3B}"/>
                </a:ext>
              </a:extLst>
            </p:cNvPr>
            <p:cNvGrpSpPr/>
            <p:nvPr/>
          </p:nvGrpSpPr>
          <p:grpSpPr>
            <a:xfrm>
              <a:off x="8083296" y="0"/>
              <a:ext cx="2458593" cy="6858000"/>
              <a:chOff x="8083296" y="0"/>
              <a:chExt cx="2458593" cy="685800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8BB38C5A-68F3-1C86-CCD0-5838961452C2}"/>
                  </a:ext>
                </a:extLst>
              </p:cNvPr>
              <p:cNvGrpSpPr/>
              <p:nvPr/>
            </p:nvGrpSpPr>
            <p:grpSpPr>
              <a:xfrm>
                <a:off x="8083296" y="0"/>
                <a:ext cx="2458593" cy="6858000"/>
                <a:chOff x="8083296" y="0"/>
                <a:chExt cx="2458593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2495DA1-2D15-88C7-C7F5-7ACABD9CEB50}"/>
                    </a:ext>
                  </a:extLst>
                </p:cNvPr>
                <p:cNvSpPr/>
                <p:nvPr/>
              </p:nvSpPr>
              <p:spPr>
                <a:xfrm>
                  <a:off x="8083296" y="0"/>
                  <a:ext cx="2029968" cy="6858000"/>
                </a:xfrm>
                <a:prstGeom prst="rect">
                  <a:avLst/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2" name="Isosceles Triangle 11">
                  <a:extLst>
                    <a:ext uri="{FF2B5EF4-FFF2-40B4-BE49-F238E27FC236}">
                      <a16:creationId xmlns:a16="http://schemas.microsoft.com/office/drawing/2014/main" id="{7F301578-3839-741F-8FC9-1EE5DEE59129}"/>
                    </a:ext>
                  </a:extLst>
                </p:cNvPr>
                <p:cNvSpPr/>
                <p:nvPr/>
              </p:nvSpPr>
              <p:spPr>
                <a:xfrm rot="5400000">
                  <a:off x="9905238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025074-498F-FE2B-FC1A-FCC71444072C}"/>
                  </a:ext>
                </a:extLst>
              </p:cNvPr>
              <p:cNvSpPr txBox="1"/>
              <p:nvPr/>
            </p:nvSpPr>
            <p:spPr>
              <a:xfrm>
                <a:off x="8677846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5</a:t>
                </a:r>
              </a:p>
            </p:txBody>
          </p:sp>
          <p:cxnSp>
            <p:nvCxnSpPr>
              <p:cNvPr id="10" name="Conector recto 10">
                <a:extLst>
                  <a:ext uri="{FF2B5EF4-FFF2-40B4-BE49-F238E27FC236}">
                    <a16:creationId xmlns:a16="http://schemas.microsoft.com/office/drawing/2014/main" id="{51155866-6BFD-24D0-11D9-99C7399238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6305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E00149D-330E-4C42-E56A-0753E6A65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714" y="4068733"/>
              <a:ext cx="1334131" cy="13341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588628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A4459-7D94-5A6C-A96F-F655B6EC3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7861D5-76CE-F8A8-64C6-DD071CCA3BDF}"/>
              </a:ext>
            </a:extLst>
          </p:cNvPr>
          <p:cNvSpPr txBox="1"/>
          <p:nvPr/>
        </p:nvSpPr>
        <p:spPr>
          <a:xfrm>
            <a:off x="2982477" y="1462208"/>
            <a:ext cx="7619834" cy="5403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Objective 2 – Prompting &amp; Fine-Tuning Impact</a:t>
            </a:r>
          </a:p>
          <a:p>
            <a:pPr>
              <a:lnSpc>
                <a:spcPct val="150000"/>
              </a:lnSpc>
            </a:pPr>
            <a:endParaRPr lang="en-US" sz="11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Story Continuation Results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GPT-2-D: Creativity 9.0, Cultural Fit 9.2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mT5-D: Fluency 9.0, Coherence 8.9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Workflow D (Prompt + LoRA) = best scores</a:t>
            </a:r>
          </a:p>
          <a:p>
            <a:pPr>
              <a:lnSpc>
                <a:spcPct val="150000"/>
              </a:lnSpc>
            </a:pPr>
            <a:endParaRPr lang="en-US" sz="11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Insights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Prompting alone improved quality with minimal resources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LoRA fine-tuning enhanced coherence and consistency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Best results achieved when both methods were combined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D3D89A-1674-DF6E-D26A-AFB2F1C01FF3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RESULTS &amp; DISCUSSION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A5DA51-C19C-52ED-157C-5A1F1B545B28}"/>
              </a:ext>
            </a:extLst>
          </p:cNvPr>
          <p:cNvGrpSpPr/>
          <p:nvPr/>
        </p:nvGrpSpPr>
        <p:grpSpPr>
          <a:xfrm>
            <a:off x="0" y="0"/>
            <a:ext cx="2458593" cy="6858000"/>
            <a:chOff x="8083296" y="0"/>
            <a:chExt cx="2458593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86978F0-3AE0-8678-1B4A-78706958ABCE}"/>
                </a:ext>
              </a:extLst>
            </p:cNvPr>
            <p:cNvGrpSpPr/>
            <p:nvPr/>
          </p:nvGrpSpPr>
          <p:grpSpPr>
            <a:xfrm>
              <a:off x="8083296" y="0"/>
              <a:ext cx="2458593" cy="6858000"/>
              <a:chOff x="8083296" y="0"/>
              <a:chExt cx="2458593" cy="685800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1AA3E92-D6EC-3C03-42C8-A3B3F84F2BCA}"/>
                  </a:ext>
                </a:extLst>
              </p:cNvPr>
              <p:cNvGrpSpPr/>
              <p:nvPr/>
            </p:nvGrpSpPr>
            <p:grpSpPr>
              <a:xfrm>
                <a:off x="8083296" y="0"/>
                <a:ext cx="2458593" cy="6858000"/>
                <a:chOff x="8083296" y="0"/>
                <a:chExt cx="2458593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544172D-D0FE-63CF-5E84-BDC6B33D094B}"/>
                    </a:ext>
                  </a:extLst>
                </p:cNvPr>
                <p:cNvSpPr/>
                <p:nvPr/>
              </p:nvSpPr>
              <p:spPr>
                <a:xfrm>
                  <a:off x="8083296" y="0"/>
                  <a:ext cx="2029968" cy="6858000"/>
                </a:xfrm>
                <a:prstGeom prst="rect">
                  <a:avLst/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2" name="Isosceles Triangle 11">
                  <a:extLst>
                    <a:ext uri="{FF2B5EF4-FFF2-40B4-BE49-F238E27FC236}">
                      <a16:creationId xmlns:a16="http://schemas.microsoft.com/office/drawing/2014/main" id="{2465EDCB-8625-CFE1-E55A-82ACE3FCEE80}"/>
                    </a:ext>
                  </a:extLst>
                </p:cNvPr>
                <p:cNvSpPr/>
                <p:nvPr/>
              </p:nvSpPr>
              <p:spPr>
                <a:xfrm rot="5400000">
                  <a:off x="9905238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590ED1-7ADA-3703-5E4A-6FC869E3105A}"/>
                  </a:ext>
                </a:extLst>
              </p:cNvPr>
              <p:cNvSpPr txBox="1"/>
              <p:nvPr/>
            </p:nvSpPr>
            <p:spPr>
              <a:xfrm>
                <a:off x="8677846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5</a:t>
                </a:r>
              </a:p>
            </p:txBody>
          </p:sp>
          <p:cxnSp>
            <p:nvCxnSpPr>
              <p:cNvPr id="10" name="Conector recto 10">
                <a:extLst>
                  <a:ext uri="{FF2B5EF4-FFF2-40B4-BE49-F238E27FC236}">
                    <a16:creationId xmlns:a16="http://schemas.microsoft.com/office/drawing/2014/main" id="{1CB2DDFA-4E9C-EFBC-7702-2AC3827061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6305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ECF90AD-C659-4CD5-DCDD-6A1FE8D29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714" y="4068733"/>
              <a:ext cx="1334131" cy="13341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577979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DDECE-CB12-F6C7-8DA6-5D150134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0299C6-AF1A-C93B-8E28-A1FC5EEEDC18}"/>
              </a:ext>
            </a:extLst>
          </p:cNvPr>
          <p:cNvSpPr txBox="1"/>
          <p:nvPr/>
        </p:nvSpPr>
        <p:spPr>
          <a:xfrm>
            <a:off x="2982477" y="1462208"/>
            <a:ext cx="7619834" cy="1525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Objective 2 – Prompting &amp; Fine-Tuning Impact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77D8C6-1E61-1A00-48F2-D0084AFD36C7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RESULTS &amp; DISCUSSION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4C160F-3439-D298-9DAB-C30DD197EC40}"/>
              </a:ext>
            </a:extLst>
          </p:cNvPr>
          <p:cNvGrpSpPr/>
          <p:nvPr/>
        </p:nvGrpSpPr>
        <p:grpSpPr>
          <a:xfrm>
            <a:off x="0" y="0"/>
            <a:ext cx="2458593" cy="6858000"/>
            <a:chOff x="8083296" y="0"/>
            <a:chExt cx="2458593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B09AD8E-C5D0-D92E-AF1B-17C559A3D6AB}"/>
                </a:ext>
              </a:extLst>
            </p:cNvPr>
            <p:cNvGrpSpPr/>
            <p:nvPr/>
          </p:nvGrpSpPr>
          <p:grpSpPr>
            <a:xfrm>
              <a:off x="8083296" y="0"/>
              <a:ext cx="2458593" cy="6858000"/>
              <a:chOff x="8083296" y="0"/>
              <a:chExt cx="2458593" cy="685800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C09F63C-3D04-B57E-5013-877923BADD84}"/>
                  </a:ext>
                </a:extLst>
              </p:cNvPr>
              <p:cNvGrpSpPr/>
              <p:nvPr/>
            </p:nvGrpSpPr>
            <p:grpSpPr>
              <a:xfrm>
                <a:off x="8083296" y="0"/>
                <a:ext cx="2458593" cy="6858000"/>
                <a:chOff x="8083296" y="0"/>
                <a:chExt cx="2458593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4986964-2318-27BB-B5D4-CC9ED201D147}"/>
                    </a:ext>
                  </a:extLst>
                </p:cNvPr>
                <p:cNvSpPr/>
                <p:nvPr/>
              </p:nvSpPr>
              <p:spPr>
                <a:xfrm>
                  <a:off x="8083296" y="0"/>
                  <a:ext cx="2029968" cy="6858000"/>
                </a:xfrm>
                <a:prstGeom prst="rect">
                  <a:avLst/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2" name="Isosceles Triangle 11">
                  <a:extLst>
                    <a:ext uri="{FF2B5EF4-FFF2-40B4-BE49-F238E27FC236}">
                      <a16:creationId xmlns:a16="http://schemas.microsoft.com/office/drawing/2014/main" id="{FF3A2B64-AD29-0A53-FCEA-246F6C1E3E48}"/>
                    </a:ext>
                  </a:extLst>
                </p:cNvPr>
                <p:cNvSpPr/>
                <p:nvPr/>
              </p:nvSpPr>
              <p:spPr>
                <a:xfrm rot="5400000">
                  <a:off x="9905238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70C792-5DC8-838F-1F28-F40AE7E9E008}"/>
                  </a:ext>
                </a:extLst>
              </p:cNvPr>
              <p:cNvSpPr txBox="1"/>
              <p:nvPr/>
            </p:nvSpPr>
            <p:spPr>
              <a:xfrm>
                <a:off x="8677846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5</a:t>
                </a:r>
              </a:p>
            </p:txBody>
          </p:sp>
          <p:cxnSp>
            <p:nvCxnSpPr>
              <p:cNvPr id="10" name="Conector recto 10">
                <a:extLst>
                  <a:ext uri="{FF2B5EF4-FFF2-40B4-BE49-F238E27FC236}">
                    <a16:creationId xmlns:a16="http://schemas.microsoft.com/office/drawing/2014/main" id="{D9760365-D0CB-4BA9-C38A-DABC065F4B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6305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7C4FCDF-009C-164C-24CD-9CDC69019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714" y="4068733"/>
              <a:ext cx="1334131" cy="1334131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7F42F53-0068-EB89-F2C0-DA9246C1D36E}"/>
              </a:ext>
            </a:extLst>
          </p:cNvPr>
          <p:cNvSpPr txBox="1"/>
          <p:nvPr/>
        </p:nvSpPr>
        <p:spPr>
          <a:xfrm>
            <a:off x="2688227" y="5774200"/>
            <a:ext cx="44391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Performance comparison for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LoRA-Tuned models on summarization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272F6-A426-7E93-9E5A-D0CF6F7FC72A}"/>
              </a:ext>
            </a:extLst>
          </p:cNvPr>
          <p:cNvSpPr txBox="1"/>
          <p:nvPr/>
        </p:nvSpPr>
        <p:spPr>
          <a:xfrm>
            <a:off x="7156871" y="5774200"/>
            <a:ext cx="4791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Human evaluation scores for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LoRA-Tuned models on story continuation</a:t>
            </a:r>
          </a:p>
        </p:txBody>
      </p:sp>
      <p:graphicFrame>
        <p:nvGraphicFramePr>
          <p:cNvPr id="18" name="Object2">
            <a:extLst>
              <a:ext uri="{FF2B5EF4-FFF2-40B4-BE49-F238E27FC236}">
                <a16:creationId xmlns:a16="http://schemas.microsoft.com/office/drawing/2014/main" id="{1423934C-F3B3-73F2-2D25-85600B373B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7824269"/>
              </p:ext>
            </p:extLst>
          </p:nvPr>
        </p:nvGraphicFramePr>
        <p:xfrm>
          <a:off x="2721217" y="2293543"/>
          <a:ext cx="4373182" cy="334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3B515B10-2DEB-B2A6-35B4-C773CF6FD5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4085652"/>
              </p:ext>
            </p:extLst>
          </p:nvPr>
        </p:nvGraphicFramePr>
        <p:xfrm>
          <a:off x="7355659" y="2293543"/>
          <a:ext cx="4373182" cy="334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6" name="Conector recto 10">
            <a:extLst>
              <a:ext uri="{FF2B5EF4-FFF2-40B4-BE49-F238E27FC236}">
                <a16:creationId xmlns:a16="http://schemas.microsoft.com/office/drawing/2014/main" id="{F5EF0B69-6C37-B05B-9F5E-59DEEB25E85B}"/>
              </a:ext>
            </a:extLst>
          </p:cNvPr>
          <p:cNvCxnSpPr>
            <a:cxnSpLocks/>
          </p:cNvCxnSpPr>
          <p:nvPr/>
        </p:nvCxnSpPr>
        <p:spPr>
          <a:xfrm>
            <a:off x="7228567" y="2301426"/>
            <a:ext cx="0" cy="331153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77483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1CBA1-FA3D-3A90-C4B2-67D03696E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9642D7-64B6-E1E7-F3D9-7388C28F5D29}"/>
              </a:ext>
            </a:extLst>
          </p:cNvPr>
          <p:cNvSpPr txBox="1"/>
          <p:nvPr/>
        </p:nvSpPr>
        <p:spPr>
          <a:xfrm>
            <a:off x="2982477" y="1462208"/>
            <a:ext cx="9209523" cy="5680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Objective 3 – Performance vs Quality</a:t>
            </a:r>
          </a:p>
          <a:p>
            <a:pPr>
              <a:lnSpc>
                <a:spcPct val="150000"/>
              </a:lnSpc>
            </a:pPr>
            <a:endParaRPr lang="en-US" sz="11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Workflows Compared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A - Base, B - Prompt Only, C - LoRA Only, D - Prompt + LoRA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1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Efficiency Metrics Logged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GPU Memory (MB), Inference Time (s), Energy Estimate (W×s)</a:t>
            </a:r>
          </a:p>
          <a:p>
            <a:pPr>
              <a:lnSpc>
                <a:spcPct val="150000"/>
              </a:lnSpc>
            </a:pPr>
            <a:endParaRPr lang="en-US" sz="11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Takeaways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GPT-2 uses 50% less memory than mT5 in Workflow 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Workflow D: Best quality, highest cost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Workflow B: Best quality-to-cost ratio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39AFE2-A680-1D55-FF05-4EE0A045FD2F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RESULTS &amp; DISCUSSION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A83A6A-5D6A-4B0F-C851-D76688BF64E6}"/>
              </a:ext>
            </a:extLst>
          </p:cNvPr>
          <p:cNvGrpSpPr/>
          <p:nvPr/>
        </p:nvGrpSpPr>
        <p:grpSpPr>
          <a:xfrm>
            <a:off x="0" y="0"/>
            <a:ext cx="2458593" cy="6858000"/>
            <a:chOff x="8083296" y="0"/>
            <a:chExt cx="2458593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04F7479-3EF0-2AD5-DF12-CB159BA831F6}"/>
                </a:ext>
              </a:extLst>
            </p:cNvPr>
            <p:cNvGrpSpPr/>
            <p:nvPr/>
          </p:nvGrpSpPr>
          <p:grpSpPr>
            <a:xfrm>
              <a:off x="8083296" y="0"/>
              <a:ext cx="2458593" cy="6858000"/>
              <a:chOff x="8083296" y="0"/>
              <a:chExt cx="2458593" cy="685800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2F05F3E-B43D-8C8E-A7BF-A7385D6BE39A}"/>
                  </a:ext>
                </a:extLst>
              </p:cNvPr>
              <p:cNvGrpSpPr/>
              <p:nvPr/>
            </p:nvGrpSpPr>
            <p:grpSpPr>
              <a:xfrm>
                <a:off x="8083296" y="0"/>
                <a:ext cx="2458593" cy="6858000"/>
                <a:chOff x="8083296" y="0"/>
                <a:chExt cx="2458593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695D000-42AA-D500-02C5-621390EF7C51}"/>
                    </a:ext>
                  </a:extLst>
                </p:cNvPr>
                <p:cNvSpPr/>
                <p:nvPr/>
              </p:nvSpPr>
              <p:spPr>
                <a:xfrm>
                  <a:off x="8083296" y="0"/>
                  <a:ext cx="2029968" cy="6858000"/>
                </a:xfrm>
                <a:prstGeom prst="rect">
                  <a:avLst/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2" name="Isosceles Triangle 11">
                  <a:extLst>
                    <a:ext uri="{FF2B5EF4-FFF2-40B4-BE49-F238E27FC236}">
                      <a16:creationId xmlns:a16="http://schemas.microsoft.com/office/drawing/2014/main" id="{BD7B878C-6862-25DC-F3D3-C21A2F559D48}"/>
                    </a:ext>
                  </a:extLst>
                </p:cNvPr>
                <p:cNvSpPr/>
                <p:nvPr/>
              </p:nvSpPr>
              <p:spPr>
                <a:xfrm rot="5400000">
                  <a:off x="9905238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4EC40D-5EF6-A2CB-73B2-A9384D01017F}"/>
                  </a:ext>
                </a:extLst>
              </p:cNvPr>
              <p:cNvSpPr txBox="1"/>
              <p:nvPr/>
            </p:nvSpPr>
            <p:spPr>
              <a:xfrm>
                <a:off x="8677846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5</a:t>
                </a:r>
              </a:p>
            </p:txBody>
          </p:sp>
          <p:cxnSp>
            <p:nvCxnSpPr>
              <p:cNvPr id="10" name="Conector recto 10">
                <a:extLst>
                  <a:ext uri="{FF2B5EF4-FFF2-40B4-BE49-F238E27FC236}">
                    <a16:creationId xmlns:a16="http://schemas.microsoft.com/office/drawing/2014/main" id="{F9767003-C99E-A75F-8270-72D28635A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6305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D7A22BB-68D1-6A75-AFE7-0D18CE6D3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714" y="4068733"/>
              <a:ext cx="1334131" cy="13341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672156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026E3-A93A-E1B3-D115-996E3B7D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E4242F-ED84-017A-9775-0BA74CB1EFCF}"/>
              </a:ext>
            </a:extLst>
          </p:cNvPr>
          <p:cNvSpPr txBox="1"/>
          <p:nvPr/>
        </p:nvSpPr>
        <p:spPr>
          <a:xfrm>
            <a:off x="2982477" y="1462208"/>
            <a:ext cx="9209523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Objective 3 – Performance vs Quality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0923FA-D2B0-42AA-0F7B-3FA7B6D505BA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RESULTS &amp; DISCUSSION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10AF63-1803-A2E5-7E4C-2E00C836FBD1}"/>
              </a:ext>
            </a:extLst>
          </p:cNvPr>
          <p:cNvGrpSpPr/>
          <p:nvPr/>
        </p:nvGrpSpPr>
        <p:grpSpPr>
          <a:xfrm>
            <a:off x="0" y="0"/>
            <a:ext cx="2458593" cy="6858000"/>
            <a:chOff x="8083296" y="0"/>
            <a:chExt cx="2458593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A3B59C-AFC6-62EA-3D97-6F2467A320C4}"/>
                </a:ext>
              </a:extLst>
            </p:cNvPr>
            <p:cNvGrpSpPr/>
            <p:nvPr/>
          </p:nvGrpSpPr>
          <p:grpSpPr>
            <a:xfrm>
              <a:off x="8083296" y="0"/>
              <a:ext cx="2458593" cy="6858000"/>
              <a:chOff x="8083296" y="0"/>
              <a:chExt cx="2458593" cy="685800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61B4D60-0F24-349B-BB80-63D3E74AF51A}"/>
                  </a:ext>
                </a:extLst>
              </p:cNvPr>
              <p:cNvGrpSpPr/>
              <p:nvPr/>
            </p:nvGrpSpPr>
            <p:grpSpPr>
              <a:xfrm>
                <a:off x="8083296" y="0"/>
                <a:ext cx="2458593" cy="6858000"/>
                <a:chOff x="8083296" y="0"/>
                <a:chExt cx="2458593" cy="6858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D2BE1DC-AEE2-5583-3B66-2A47D0FF7E9B}"/>
                    </a:ext>
                  </a:extLst>
                </p:cNvPr>
                <p:cNvSpPr/>
                <p:nvPr/>
              </p:nvSpPr>
              <p:spPr>
                <a:xfrm>
                  <a:off x="8083296" y="0"/>
                  <a:ext cx="2029968" cy="6858000"/>
                </a:xfrm>
                <a:prstGeom prst="rect">
                  <a:avLst/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00" b="1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2" name="Isosceles Triangle 11">
                  <a:extLst>
                    <a:ext uri="{FF2B5EF4-FFF2-40B4-BE49-F238E27FC236}">
                      <a16:creationId xmlns:a16="http://schemas.microsoft.com/office/drawing/2014/main" id="{B9A9F0E0-D861-33D1-E016-83800205CAC2}"/>
                    </a:ext>
                  </a:extLst>
                </p:cNvPr>
                <p:cNvSpPr/>
                <p:nvPr/>
              </p:nvSpPr>
              <p:spPr>
                <a:xfrm rot="5400000">
                  <a:off x="9905238" y="773049"/>
                  <a:ext cx="822960" cy="450342"/>
                </a:xfrm>
                <a:prstGeom prst="triangle">
                  <a:avLst>
                    <a:gd name="adj" fmla="val 48889"/>
                  </a:avLst>
                </a:prstGeom>
                <a:solidFill>
                  <a:srgbClr val="2F539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B76823-BB1E-6BE2-73BF-E66F6E42859C}"/>
                  </a:ext>
                </a:extLst>
              </p:cNvPr>
              <p:cNvSpPr txBox="1"/>
              <p:nvPr/>
            </p:nvSpPr>
            <p:spPr>
              <a:xfrm>
                <a:off x="8677846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5</a:t>
                </a:r>
              </a:p>
            </p:txBody>
          </p:sp>
          <p:cxnSp>
            <p:nvCxnSpPr>
              <p:cNvPr id="10" name="Conector recto 10">
                <a:extLst>
                  <a:ext uri="{FF2B5EF4-FFF2-40B4-BE49-F238E27FC236}">
                    <a16:creationId xmlns:a16="http://schemas.microsoft.com/office/drawing/2014/main" id="{C4C6457C-5C5D-2D9D-103D-60DDB7A8B5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6305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DD0C1E3-DEE7-1FE4-AAEC-295B6D8D4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714" y="4068733"/>
              <a:ext cx="1334131" cy="1334131"/>
            </a:xfrm>
            <a:prstGeom prst="rect">
              <a:avLst/>
            </a:prstGeom>
          </p:spPr>
        </p:pic>
      </p:grpSp>
      <p:cxnSp>
        <p:nvCxnSpPr>
          <p:cNvPr id="14" name="Conector recto 10">
            <a:extLst>
              <a:ext uri="{FF2B5EF4-FFF2-40B4-BE49-F238E27FC236}">
                <a16:creationId xmlns:a16="http://schemas.microsoft.com/office/drawing/2014/main" id="{F518EC8D-F7DB-167E-CBF0-E70D5B3C83F7}"/>
              </a:ext>
            </a:extLst>
          </p:cNvPr>
          <p:cNvCxnSpPr>
            <a:cxnSpLocks/>
          </p:cNvCxnSpPr>
          <p:nvPr/>
        </p:nvCxnSpPr>
        <p:spPr>
          <a:xfrm>
            <a:off x="5735047" y="2301425"/>
            <a:ext cx="0" cy="331153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0">
            <a:extLst>
              <a:ext uri="{FF2B5EF4-FFF2-40B4-BE49-F238E27FC236}">
                <a16:creationId xmlns:a16="http://schemas.microsoft.com/office/drawing/2014/main" id="{67A3F165-260C-2906-6A70-BCD46DF5F9D9}"/>
              </a:ext>
            </a:extLst>
          </p:cNvPr>
          <p:cNvCxnSpPr>
            <a:cxnSpLocks/>
          </p:cNvCxnSpPr>
          <p:nvPr/>
        </p:nvCxnSpPr>
        <p:spPr>
          <a:xfrm>
            <a:off x="8812801" y="2301424"/>
            <a:ext cx="0" cy="331153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87095F21-2D80-A6CC-A558-63DA8821B4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297973"/>
              </p:ext>
            </p:extLst>
          </p:nvPr>
        </p:nvGraphicFramePr>
        <p:xfrm>
          <a:off x="2728394" y="2301424"/>
          <a:ext cx="2939308" cy="3346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B27DA42-AFB6-0A92-DA19-CF7D321C3B97}"/>
              </a:ext>
            </a:extLst>
          </p:cNvPr>
          <p:cNvSpPr txBox="1"/>
          <p:nvPr/>
        </p:nvSpPr>
        <p:spPr>
          <a:xfrm>
            <a:off x="3019456" y="5742669"/>
            <a:ext cx="23571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GPU Memory usage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comparison chart</a:t>
            </a:r>
          </a:p>
        </p:txBody>
      </p:sp>
      <p:graphicFrame>
        <p:nvGraphicFramePr>
          <p:cNvPr id="19" name="Object3">
            <a:extLst>
              <a:ext uri="{FF2B5EF4-FFF2-40B4-BE49-F238E27FC236}">
                <a16:creationId xmlns:a16="http://schemas.microsoft.com/office/drawing/2014/main" id="{49771A3E-47D7-84A8-74BE-D047969AE9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2427073"/>
              </p:ext>
            </p:extLst>
          </p:nvPr>
        </p:nvGraphicFramePr>
        <p:xfrm>
          <a:off x="5802393" y="2301423"/>
          <a:ext cx="2939307" cy="3346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13CAC58-12A3-F57F-EDAD-AC9AC13D3D1A}"/>
              </a:ext>
            </a:extLst>
          </p:cNvPr>
          <p:cNvSpPr txBox="1"/>
          <p:nvPr/>
        </p:nvSpPr>
        <p:spPr>
          <a:xfrm>
            <a:off x="5901542" y="5742669"/>
            <a:ext cx="27410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Average Inference Time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comparison chart</a:t>
            </a:r>
          </a:p>
        </p:txBody>
      </p:sp>
      <p:graphicFrame>
        <p:nvGraphicFramePr>
          <p:cNvPr id="21" name="Object4">
            <a:extLst>
              <a:ext uri="{FF2B5EF4-FFF2-40B4-BE49-F238E27FC236}">
                <a16:creationId xmlns:a16="http://schemas.microsoft.com/office/drawing/2014/main" id="{DA9A2A54-C638-1616-6D4A-412DB7E6FE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6916661"/>
              </p:ext>
            </p:extLst>
          </p:nvPr>
        </p:nvGraphicFramePr>
        <p:xfrm>
          <a:off x="8902463" y="2301423"/>
          <a:ext cx="2935551" cy="3311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93DF1DC-5B4D-DEA2-35EC-A45B4470064C}"/>
              </a:ext>
            </a:extLst>
          </p:cNvPr>
          <p:cNvSpPr txBox="1"/>
          <p:nvPr/>
        </p:nvSpPr>
        <p:spPr>
          <a:xfrm>
            <a:off x="9047087" y="5742669"/>
            <a:ext cx="26463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Energy estimate (W×s)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comparison chart</a:t>
            </a:r>
          </a:p>
        </p:txBody>
      </p:sp>
    </p:spTree>
    <p:extLst>
      <p:ext uri="{BB962C8B-B14F-4D97-AF65-F5344CB8AC3E}">
        <p14:creationId xmlns:p14="http://schemas.microsoft.com/office/powerpoint/2010/main" val="218055170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F09A4-D552-3FF1-3597-611D5992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E9E48F-CE6A-3692-BE79-3B8D56A0F5C4}"/>
              </a:ext>
            </a:extLst>
          </p:cNvPr>
          <p:cNvSpPr txBox="1"/>
          <p:nvPr/>
        </p:nvSpPr>
        <p:spPr>
          <a:xfrm>
            <a:off x="2982477" y="1462208"/>
            <a:ext cx="8502702" cy="5218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Key Findings</a:t>
            </a:r>
          </a:p>
          <a:p>
            <a:pPr marL="800100" lvl="1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00"/>
                </a:solidFill>
                <a:latin typeface="Aptos" panose="020B0004020202020204" pitchFamily="34" charset="0"/>
              </a:rPr>
              <a:t>mT5</a:t>
            </a:r>
            <a:r>
              <a:rPr lang="en-US" sz="20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excelled in summarization due to multilingual training and structured architecture.</a:t>
            </a:r>
          </a:p>
          <a:p>
            <a:pPr marL="800100" lvl="1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GPT-2 Urdu 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produced more expressive, culturally rich stories, benefiting from Urdu-specific fine-tuning.</a:t>
            </a:r>
          </a:p>
          <a:p>
            <a:pPr marL="800100" lvl="1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Prompt Engineering 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improved creativity and relevance with minimal resource use.</a:t>
            </a:r>
          </a:p>
          <a:p>
            <a:pPr marL="800100" lvl="1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FF00"/>
                </a:solidFill>
                <a:latin typeface="Aptos" panose="020B0004020202020204" pitchFamily="34" charset="0"/>
              </a:rPr>
              <a:t>LoRA</a:t>
            </a: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 Fine-Tuning 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enhanced coherence and fluency while staying within single-GPU limits.</a:t>
            </a:r>
          </a:p>
          <a:p>
            <a:pPr marL="800100" lvl="1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Combined Approach (Prompt + </a:t>
            </a:r>
            <a:r>
              <a:rPr lang="en-US" sz="2000" dirty="0" err="1">
                <a:solidFill>
                  <a:srgbClr val="FFFF00"/>
                </a:solidFill>
                <a:latin typeface="Aptos" panose="020B0004020202020204" pitchFamily="34" charset="0"/>
              </a:rPr>
              <a:t>LoRA</a:t>
            </a: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) 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delivered the best overall quality across all evaluation metrics.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FDBE7F-264D-B763-ED0F-825205A821E3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CONCLUSION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FF032-2D9D-DE7A-9CE8-21B8C6A7ACCB}"/>
              </a:ext>
            </a:extLst>
          </p:cNvPr>
          <p:cNvGrpSpPr/>
          <p:nvPr/>
        </p:nvGrpSpPr>
        <p:grpSpPr>
          <a:xfrm>
            <a:off x="0" y="0"/>
            <a:ext cx="2090928" cy="6858000"/>
            <a:chOff x="10101072" y="0"/>
            <a:chExt cx="2090928" cy="685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9ADC097-0AC5-8A52-B8CD-F4F5CEF9AE52}"/>
                </a:ext>
              </a:extLst>
            </p:cNvPr>
            <p:cNvGrpSpPr/>
            <p:nvPr/>
          </p:nvGrpSpPr>
          <p:grpSpPr>
            <a:xfrm>
              <a:off x="10101072" y="0"/>
              <a:ext cx="2090928" cy="6858000"/>
              <a:chOff x="10101072" y="0"/>
              <a:chExt cx="2090928" cy="685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1701CD7-890A-361F-157F-A6CD8FCFCEE2}"/>
                  </a:ext>
                </a:extLst>
              </p:cNvPr>
              <p:cNvSpPr/>
              <p:nvPr/>
            </p:nvSpPr>
            <p:spPr>
              <a:xfrm>
                <a:off x="10101072" y="0"/>
                <a:ext cx="2090928" cy="6858000"/>
              </a:xfrm>
              <a:prstGeom prst="rect">
                <a:avLst/>
              </a:prstGeom>
              <a:solidFill>
                <a:srgbClr val="355EA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latin typeface="Aptos" panose="020B0004020202020204" pitchFamily="34" charset="0"/>
                  </a:rPr>
                  <a:t>Conclusion &amp; Future Recommendations 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1CEA3D-0207-FF19-A184-559715E15FB9}"/>
                  </a:ext>
                </a:extLst>
              </p:cNvPr>
              <p:cNvSpPr txBox="1"/>
              <p:nvPr/>
            </p:nvSpPr>
            <p:spPr>
              <a:xfrm>
                <a:off x="10683430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6</a:t>
                </a:r>
              </a:p>
            </p:txBody>
          </p:sp>
          <p:cxnSp>
            <p:nvCxnSpPr>
              <p:cNvPr id="17" name="Conector recto 10">
                <a:extLst>
                  <a:ext uri="{FF2B5EF4-FFF2-40B4-BE49-F238E27FC236}">
                    <a16:creationId xmlns:a16="http://schemas.microsoft.com/office/drawing/2014/main" id="{9E51F948-2789-2C51-35A8-004A9C0089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3430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0B10E1F-988D-625F-745C-2906946E9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53857" y="4244401"/>
              <a:ext cx="1287848" cy="12878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953728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A1516A-603F-E462-C8BA-6B5FA040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B25085-B756-A3DC-C526-B5D1B719A447}"/>
              </a:ext>
            </a:extLst>
          </p:cNvPr>
          <p:cNvSpPr txBox="1"/>
          <p:nvPr/>
        </p:nvSpPr>
        <p:spPr>
          <a:xfrm>
            <a:off x="2982477" y="1462208"/>
            <a:ext cx="8479054" cy="2910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00"/>
                </a:solidFill>
                <a:latin typeface="Aptos" panose="020B0004020202020204" pitchFamily="34" charset="0"/>
              </a:rPr>
              <a:t>Deployment Insights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For </a:t>
            </a: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lightweight use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, GPT-2 + prompts offers high narrative quality with low memory and latency.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For </a:t>
            </a:r>
            <a:r>
              <a:rPr 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high-precision storytelling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, mT5 +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LoRA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+ prompts is ideal for structured, fluent outputs.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76CEF3-B80D-CB6F-F6A9-2EFCAF4C586B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CONCLUSION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2FF632-D8AD-B934-3475-FA582C5D16ED}"/>
              </a:ext>
            </a:extLst>
          </p:cNvPr>
          <p:cNvGrpSpPr/>
          <p:nvPr/>
        </p:nvGrpSpPr>
        <p:grpSpPr>
          <a:xfrm>
            <a:off x="0" y="0"/>
            <a:ext cx="2090928" cy="6858000"/>
            <a:chOff x="10101072" y="0"/>
            <a:chExt cx="2090928" cy="685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87E0777-E598-D523-8FBA-6C1467015C70}"/>
                </a:ext>
              </a:extLst>
            </p:cNvPr>
            <p:cNvGrpSpPr/>
            <p:nvPr/>
          </p:nvGrpSpPr>
          <p:grpSpPr>
            <a:xfrm>
              <a:off x="10101072" y="0"/>
              <a:ext cx="2090928" cy="6858000"/>
              <a:chOff x="10101072" y="0"/>
              <a:chExt cx="2090928" cy="685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170D80E-0D6D-D9E6-25EA-2FF46E25505A}"/>
                  </a:ext>
                </a:extLst>
              </p:cNvPr>
              <p:cNvSpPr/>
              <p:nvPr/>
            </p:nvSpPr>
            <p:spPr>
              <a:xfrm>
                <a:off x="10101072" y="0"/>
                <a:ext cx="2090928" cy="6858000"/>
              </a:xfrm>
              <a:prstGeom prst="rect">
                <a:avLst/>
              </a:prstGeom>
              <a:solidFill>
                <a:srgbClr val="355EA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latin typeface="Aptos" panose="020B0004020202020204" pitchFamily="34" charset="0"/>
                  </a:rPr>
                  <a:t>Conclusion &amp; Future Recommendations 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955FAC-6215-5C30-26DC-8AF56768A2DF}"/>
                  </a:ext>
                </a:extLst>
              </p:cNvPr>
              <p:cNvSpPr txBox="1"/>
              <p:nvPr/>
            </p:nvSpPr>
            <p:spPr>
              <a:xfrm>
                <a:off x="10683430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6</a:t>
                </a:r>
              </a:p>
            </p:txBody>
          </p:sp>
          <p:cxnSp>
            <p:nvCxnSpPr>
              <p:cNvPr id="17" name="Conector recto 10">
                <a:extLst>
                  <a:ext uri="{FF2B5EF4-FFF2-40B4-BE49-F238E27FC236}">
                    <a16:creationId xmlns:a16="http://schemas.microsoft.com/office/drawing/2014/main" id="{B6F28A86-3080-C3BE-A3A2-F486E31FFE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3430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B8B290D-A292-0F60-97B0-B815CF665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53857" y="4244401"/>
              <a:ext cx="1287848" cy="12878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274274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8A834-49FA-6969-8808-22B8244CD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18D23-49A0-FC53-0AF8-E7E4AC3F2E62}"/>
              </a:ext>
            </a:extLst>
          </p:cNvPr>
          <p:cNvSpPr txBox="1"/>
          <p:nvPr/>
        </p:nvSpPr>
        <p:spPr>
          <a:xfrm>
            <a:off x="2982477" y="1462208"/>
            <a:ext cx="8975668" cy="281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Explore Reinforcement Learning with Human Feedback (RLHF) to better align outputs with human preferences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Use </a:t>
            </a: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multilingual cross-training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to support very low-resource languages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Optimize for </a:t>
            </a: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real-time generation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in live or voice-based systems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Extend research to </a:t>
            </a:r>
            <a:r>
              <a:rPr lang="en-US" altLang="en-US" sz="2000" dirty="0">
                <a:solidFill>
                  <a:srgbClr val="FFFF00"/>
                </a:solidFill>
                <a:latin typeface="Aptos" panose="020B0004020202020204" pitchFamily="34" charset="0"/>
              </a:rPr>
              <a:t>poetry, dialogue, and multi-turn narratives 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using richer Urdu datasets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3A1F03-D73A-0F2D-E826-8552F7ED71C3}"/>
              </a:ext>
            </a:extLst>
          </p:cNvPr>
          <p:cNvSpPr txBox="1">
            <a:spLocks/>
          </p:cNvSpPr>
          <p:nvPr/>
        </p:nvSpPr>
        <p:spPr>
          <a:xfrm>
            <a:off x="2982477" y="534232"/>
            <a:ext cx="10381673" cy="92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00"/>
                </a:solidFill>
                <a:latin typeface="Aptos" panose="020B0004020202020204" pitchFamily="34" charset="0"/>
              </a:rPr>
              <a:t>FUTURE RECOMMENDATIONS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F39422-FF79-8E87-68F6-6073C82E07BA}"/>
              </a:ext>
            </a:extLst>
          </p:cNvPr>
          <p:cNvGrpSpPr/>
          <p:nvPr/>
        </p:nvGrpSpPr>
        <p:grpSpPr>
          <a:xfrm>
            <a:off x="0" y="0"/>
            <a:ext cx="2090928" cy="6858000"/>
            <a:chOff x="10101072" y="0"/>
            <a:chExt cx="2090928" cy="685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72B9D78-312E-C953-A2AD-D1829585F80F}"/>
                </a:ext>
              </a:extLst>
            </p:cNvPr>
            <p:cNvGrpSpPr/>
            <p:nvPr/>
          </p:nvGrpSpPr>
          <p:grpSpPr>
            <a:xfrm>
              <a:off x="10101072" y="0"/>
              <a:ext cx="2090928" cy="6858000"/>
              <a:chOff x="10101072" y="0"/>
              <a:chExt cx="2090928" cy="685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41135A8-584E-4803-3828-9E7B922465F2}"/>
                  </a:ext>
                </a:extLst>
              </p:cNvPr>
              <p:cNvSpPr/>
              <p:nvPr/>
            </p:nvSpPr>
            <p:spPr>
              <a:xfrm>
                <a:off x="10101072" y="0"/>
                <a:ext cx="2090928" cy="6858000"/>
              </a:xfrm>
              <a:prstGeom prst="rect">
                <a:avLst/>
              </a:prstGeom>
              <a:solidFill>
                <a:srgbClr val="355EA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latin typeface="Aptos" panose="020B0004020202020204" pitchFamily="34" charset="0"/>
                  </a:rPr>
                  <a:t>Conclusion &amp; Future Recommendations 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BD2E2B-5B64-A9A9-3FD4-3722E893BFA8}"/>
                  </a:ext>
                </a:extLst>
              </p:cNvPr>
              <p:cNvSpPr txBox="1"/>
              <p:nvPr/>
            </p:nvSpPr>
            <p:spPr>
              <a:xfrm>
                <a:off x="10683430" y="1043940"/>
                <a:ext cx="113195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6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6</a:t>
                </a:r>
              </a:p>
            </p:txBody>
          </p:sp>
          <p:cxnSp>
            <p:nvCxnSpPr>
              <p:cNvPr id="17" name="Conector recto 10">
                <a:extLst>
                  <a:ext uri="{FF2B5EF4-FFF2-40B4-BE49-F238E27FC236}">
                    <a16:creationId xmlns:a16="http://schemas.microsoft.com/office/drawing/2014/main" id="{90623675-0A9C-6DC5-8D7F-0D981E1C32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3430" y="2673170"/>
                <a:ext cx="109265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C7FF1D-2488-1816-B34C-DF8FC89F5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53857" y="4244401"/>
              <a:ext cx="1287848" cy="12878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854145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B75605-F976-7ADD-3AAB-5911B3503D4F}"/>
              </a:ext>
            </a:extLst>
          </p:cNvPr>
          <p:cNvSpPr/>
          <p:nvPr/>
        </p:nvSpPr>
        <p:spPr>
          <a:xfrm>
            <a:off x="5105400" y="3246120"/>
            <a:ext cx="2067560" cy="1249680"/>
          </a:xfrm>
          <a:prstGeom prst="rect">
            <a:avLst/>
          </a:prstGeom>
          <a:solidFill>
            <a:srgbClr val="3AB6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9F401-E40D-3AF2-B921-B04581A3AA9B}"/>
              </a:ext>
            </a:extLst>
          </p:cNvPr>
          <p:cNvSpPr txBox="1"/>
          <p:nvPr/>
        </p:nvSpPr>
        <p:spPr>
          <a:xfrm>
            <a:off x="5191760" y="3246120"/>
            <a:ext cx="198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</a:rPr>
              <a:t>THANK</a:t>
            </a:r>
          </a:p>
          <a:p>
            <a:pPr algn="ctr"/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77586306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980</Words>
  <Application>Microsoft Office PowerPoint</Application>
  <PresentationFormat>Widescreen</PresentationFormat>
  <Paragraphs>200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Office Theme</vt:lpstr>
      <vt:lpstr>A COMPARATIVE STUDY ON NARRATIVE GENERATION WITH ROBUST STORYTELLING CAPABILITIES VIA PRE-TRAINED LANGUAGE MODELS WITH PROMPT ENGINEERING &amp; LoRA FINE-TUNING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AAMER</dc:creator>
  <cp:lastModifiedBy>MOHAMMED AAMER</cp:lastModifiedBy>
  <cp:revision>82</cp:revision>
  <cp:lastPrinted>2025-07-27T15:12:08Z</cp:lastPrinted>
  <dcterms:created xsi:type="dcterms:W3CDTF">2025-07-22T13:06:01Z</dcterms:created>
  <dcterms:modified xsi:type="dcterms:W3CDTF">2025-07-27T15:12:10Z</dcterms:modified>
</cp:coreProperties>
</file>